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Broad story inspiration only. Sources: https://tv.apple.com/nz/episode/thin-red-line/umc.cmc.343dcf9kznkxsuz2rx6jcazs9 ; https://www.tvmaze.com/episodes/8884/the-mentalist-1x07-seeing-red ; https://www.netflix.com/tudum/articles/his-hers-episode-6-recap-ending-explained . Full details and limits: SOURCE_TRAINING_REPORT.md.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Public repository: https://github.com/Abhishek-Punhani/mercy-house . Public demo: https://mercyhouse.abhi07.xyz . QR codes contain only these URLs. Watching needs no login or key; a new public live run uses a visitor key for the configured provider.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Abhishek-Punhani/mercy-house" TargetMode="External"/><Relationship Id="rId4" Type="http://schemas.openxmlformats.org/officeDocument/2006/relationships/image" Target="../media/image4.png"/><Relationship Id="rId5" Type="http://schemas.openxmlformats.org/officeDocument/2006/relationships/hyperlink" Target="https://mercyhouse.abhi07.xyz" TargetMode="Externa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KASUKABE DEFENCE FORCE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MERCY HOUSE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A detective game that checks the evidence behind every conclusion.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01 / 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423160"/>
            <a:ext cx="10607040" cy="6400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66E6CD"/>
                </a:solidFill>
                <a:latin typeface="DejaVu Sans"/>
              </a:defRPr>
            </a:pPr>
            <a:r>
              <a:t>Find the truth. Show the proof.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337560"/>
            <a:ext cx="1042416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A4B6CD"/>
                </a:solidFill>
                <a:latin typeface="DejaVu Sans"/>
              </a:defRPr>
            </a:pPr>
            <a:r>
              <a:t>PRESENTED BY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67912"/>
            <a:ext cx="3602736" cy="1069848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187952"/>
            <a:ext cx="320040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EDF4FF"/>
                </a:solidFill>
                <a:latin typeface="DejaVu Sans"/>
              </a:defRPr>
            </a:pPr>
            <a:r>
              <a:t>Aditya Ahirwar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43984" y="3867912"/>
            <a:ext cx="3602736" cy="1069848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54296" y="4187952"/>
            <a:ext cx="320040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EDF4FF"/>
                </a:solidFill>
                <a:latin typeface="DejaVu Sans"/>
              </a:defRPr>
            </a:pPr>
            <a:r>
              <a:t>Abhishek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3867912"/>
            <a:ext cx="3602736" cy="1069848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200" y="4187952"/>
            <a:ext cx="320040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EDF4FF"/>
                </a:solidFill>
                <a:latin typeface="DejaVu Sans"/>
              </a:defRPr>
            </a:pPr>
            <a:r>
              <a:t>Tapis Samaiya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RL Environment Hackathon  /  Games &amp; World Simulations  /  Team Kasukabe Defence Force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THE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A murder. Many accounts. One investigation.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02 /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65960"/>
            <a:ext cx="4937760" cy="10515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66E6CD"/>
                </a:solidFill>
                <a:latin typeface="DejaVu Sans"/>
              </a:defRPr>
            </a:pPr>
            <a:r>
              <a:t>Bhairav’s Hollow, 1900.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26080"/>
            <a:ext cx="4892040" cy="1371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EDF4FF"/>
                </a:solidFill>
                <a:latin typeface="DejaVu Sans"/>
              </a:defRPr>
            </a:pPr>
            <a:r>
              <a:t>A physician dies while trying to expose old records. The detective knows the people involved. Some accounts are mistaken; some evidence was planted.</a:t>
            </a:r>
          </a:p>
        </p:txBody>
      </p:sp>
      <p:pic>
        <p:nvPicPr>
          <p:cNvPr id="14" name="Picture 13" descr="ui-int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9502" y="1828800"/>
            <a:ext cx="5643154" cy="41148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40080" y="4663440"/>
            <a:ext cx="1572768" cy="10058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4754880"/>
            <a:ext cx="12801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66E6CD"/>
                </a:solidFill>
                <a:latin typeface="DejaVu Sans"/>
              </a:defRPr>
            </a:pPr>
            <a: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5294376"/>
            <a:ext cx="128016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A4B6CD"/>
                </a:solidFill>
                <a:latin typeface="DejaVu Sans"/>
              </a:defRPr>
            </a:pPr>
            <a:r>
              <a:t>TASKS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77440" y="4663440"/>
            <a:ext cx="1572768" cy="10058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23744" y="4754880"/>
            <a:ext cx="12801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66E6CD"/>
                </a:solidFill>
                <a:latin typeface="DejaVu Sans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3744" y="5294376"/>
            <a:ext cx="128016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A4B6CD"/>
                </a:solidFill>
                <a:latin typeface="DejaVu Sans"/>
              </a:defRPr>
            </a:pPr>
            <a:r>
              <a:t>CASE FAMILIES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0" y="4663440"/>
            <a:ext cx="1572768" cy="10058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61104" y="4754880"/>
            <a:ext cx="12801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66E6CD"/>
                </a:solidFill>
                <a:latin typeface="DejaVu Sans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1104" y="5294376"/>
            <a:ext cx="128016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A4B6CD"/>
                </a:solidFill>
                <a:latin typeface="DejaVu Sans"/>
              </a:defRPr>
            </a:pPr>
            <a:r>
              <a:t>LEVELS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Image: a labeled recorded reference investigation. It is a demonstration, not a model-performance result.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HOW TO PLAY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The detective chooses every next step.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Start at the scene with a personal history and an assignment. No solution is supplied.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03 / 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2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2724912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752344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EXPLORE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383279"/>
            <a:ext cx="2231136" cy="13258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Choose where to go and what to search.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10712" y="2542032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75304" y="2724912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39896" y="2752344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21024" y="3383279"/>
            <a:ext cx="2231136" cy="13258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Ask people what they saw, heard or believe.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7064" y="2542032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91656" y="2724912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6248" y="2752344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CHECK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7376" y="3383279"/>
            <a:ext cx="2231136" cy="13258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Compare documents and physical evidence.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43416" y="2542032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08008" y="2724912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600" y="2752344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3728" y="3383279"/>
            <a:ext cx="2231136" cy="13258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Make conclusions and cite the records behind them.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212080"/>
            <a:ext cx="10789920" cy="5486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A4B6CD"/>
                </a:solidFill>
                <a:latin typeface="DejaVu Sans"/>
              </a:defRPr>
            </a:pPr>
            <a:r>
              <a:t>The detective can be wrong, follow a false lead, change its mind or finish with unanswered questions.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Judges bring their detective model. Our submission provides the world, tools, characters and scoring.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WHAT HAPPENS BEFORE THE DETECTIVE ARRIVES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Actions create the clues.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The engine checks who was present, what they could do and what they could actually observe.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04 / 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60320"/>
            <a:ext cx="3575304" cy="21488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274320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THE INCIDENT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401568"/>
            <a:ext cx="3154680" cy="11887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Characters move, act and handle objects.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0832" y="2560320"/>
            <a:ext cx="3575304" cy="21488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5424" y="274320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0016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THE CONSEQUENCES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3401568"/>
            <a:ext cx="3154680" cy="11887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The engine records injuries and physical changes.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47304" y="2560320"/>
            <a:ext cx="3575304" cy="21488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11896" y="274320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76488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THE WITNESSES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3401568"/>
            <a:ext cx="3154680" cy="11887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Each person remembers only their own experience.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5065776"/>
            <a:ext cx="10789920" cy="7315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A4B6CD"/>
                </a:solidFill>
                <a:latin typeface="DejaVu Sans"/>
              </a:defRPr>
            </a:pPr>
            <a:r>
              <a:t>Remove the assault: no fatal injury. Keep the brake intact: no coach deaths. Leave the drink unchanged: no poisoning death.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Starting incidents replay recorded or authored actions for repeatable tests. A continuously autonomous town is not implemented.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CHARACTER CONVERSATIONS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Each person has a life beyond the question.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Family, work, relationships and private memories shape what a character is willing to say.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05 / 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606040"/>
            <a:ext cx="3520440" cy="235915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278892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816352"/>
            <a:ext cx="301752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WHAT THEY KNOW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447288"/>
            <a:ext cx="3099816" cy="1399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Their own history and local experiences. They cannot inspect another person’s memories.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52544" y="2606040"/>
            <a:ext cx="3520440" cy="235915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17136" y="278892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2816352"/>
            <a:ext cx="301752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WHAT THEY SHARE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3447288"/>
            <a:ext cx="3099816" cy="1399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Reassurance and relevant evidence can unlock a reluctant account. A character may still refuse.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0727" y="2606040"/>
            <a:ext cx="3520440" cy="235915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75319" y="278892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9911" y="2816352"/>
            <a:ext cx="301752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WHAT THEY SAY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447288"/>
            <a:ext cx="3099816" cy="1399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A separate model call writes the spoken reply using only the released recollections.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Witnesses do not receive the answer file. Conversation alone cannot create evidence or change what happened.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THE FINISHED INVESTIGATION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Read the report—and why it passed or failed.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06 / 14</a:t>
            </a:r>
          </a:p>
        </p:txBody>
      </p:sp>
      <p:pic>
        <p:nvPicPr>
          <p:cNvPr id="12" name="Picture 11" descr="ui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7482" y="1828800"/>
            <a:ext cx="5643154" cy="41148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452360" y="2057400"/>
            <a:ext cx="4069080" cy="35204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16952" y="224028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81544" y="2267712"/>
            <a:ext cx="35661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VISIBLE RESULTS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62672" y="2898648"/>
            <a:ext cx="3648456" cy="2560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The submitted conclusions.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Links to acquired evidence.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Supported and unsupported findings.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The score and its explanation.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Image: an actual beginner investigation that scored 1.0. The written narrative is shown, but is not automatically fact-checked.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THE SOFTWARE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What we built.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07 / 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560320"/>
            <a:ext cx="2651760" cy="26060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" y="274320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770632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401568"/>
            <a:ext cx="2231136" cy="1645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EDF4FF"/>
                </a:solidFill>
                <a:latin typeface="DejaVu Sans"/>
              </a:defRPr>
            </a:pPr>
            <a:r>
              <a:t>Runs the world, checks actions, stores evidence and scores reports.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10712" y="2560320"/>
            <a:ext cx="2651760" cy="26060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75304" y="274320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39896" y="2770632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JAVASCRIPT + SVG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1024" y="3401568"/>
            <a:ext cx="2231136" cy="1645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EDF4FF"/>
                </a:solidFill>
                <a:latin typeface="DejaVu Sans"/>
              </a:defRPr>
            </a:pPr>
            <a:r>
              <a:t>Shows places, characters, dialogue, evidence and the final report.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7064" y="2560320"/>
            <a:ext cx="2651760" cy="26060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91656" y="274320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2770632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DOCKER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7376" y="3401568"/>
            <a:ext cx="2231136" cy="1645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EDF4FF"/>
                </a:solidFill>
                <a:latin typeface="DejaVu Sans"/>
              </a:defRPr>
            </a:pPr>
            <a:r>
              <a:t>Separates the hidden world, model access, run controller and detective’s shell.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2560320"/>
            <a:ext cx="2651760" cy="26060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08008" y="274320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2770632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MODEL APIs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3728" y="3401568"/>
            <a:ext cx="2231136" cy="1645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EDF4FF"/>
                </a:solidFill>
                <a:latin typeface="DejaVu Sans"/>
              </a:defRPr>
            </a:pPr>
            <a:r>
              <a:t>Power the detective and character conversations. The viewer streams their public actions.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Hosted on Google Cloud with Terraform, Cloudflare DNS and Caddy HTTPS. The public website needs no account.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LEARNING WHICH ACTION TO CHOOSE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What did we train?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We trained a small action selector. We did not change the language model’s weights.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08 / 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60320"/>
            <a:ext cx="3575304" cy="23774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274320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1  READ THE PROGRESS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401568"/>
            <a:ext cx="3154680" cy="1417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Use acquired records, past actions and remaining steps.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0832" y="2560320"/>
            <a:ext cx="3575304" cy="23774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5424" y="274320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0016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2  CONSIDER CHOICES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3401568"/>
            <a:ext cx="3154680" cy="1417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Receive several possible searches, questions, comparisons or reports.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47304" y="2560320"/>
            <a:ext cx="3575304" cy="23774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11896" y="274320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76488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3  PICK AN 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3401568"/>
            <a:ext cx="3154680" cy="1417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Learn which choices tend to lead to a supported conclusion.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5285232"/>
            <a:ext cx="10835640" cy="47548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A4B6CD"/>
                </a:solidFill>
                <a:latin typeface="DejaVu Sans"/>
              </a:defRPr>
            </a:pPr>
            <a:r>
              <a:t>After repeated practice, successful action sequences become more likely. This is the reinforcement-learning part.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The method is REINFORCE. Training used written rules to propose choices; the full-case test used language-model proposals.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THE TRAINING EXAMPLES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Three story ideas became practice problems.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We wrote new interactive exercises inspired by these stories. We did not train on complete episode scripts.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09 / 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60320"/>
            <a:ext cx="3575304" cy="254203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274320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THE MENTALIST · S1E8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401568"/>
            <a:ext cx="3154680" cy="1581911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Two people died. Which one was the intended target? Check the instruction and passenger records.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0832" y="2560320"/>
            <a:ext cx="3575304" cy="254203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5424" y="274320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0016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THE MENTALIST · S1E7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3401568"/>
            <a:ext cx="3154680" cy="1581911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Someone predicted a death. That does not prove murder. Check who wrote the warning.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47304" y="2560320"/>
            <a:ext cx="3575304" cy="254203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11896" y="274320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76488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HIS &amp; HERS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3401568"/>
            <a:ext cx="3154680" cy="1581911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A familiar relative can be guilty or innocent. Use a first-hand account and physical evidence, not loyalty or gossip.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Both culprit assignments appear. Some evidence is already acquired when practice begins. The original full inquest is excluded from this new training.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HOW SCORING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Reward proof, not a confident accusation.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10 / 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560320"/>
            <a:ext cx="5285232" cy="2615184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" y="274320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770632"/>
            <a:ext cx="4782312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DURING PRACTICE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401568"/>
            <a:ext cx="4864608" cy="1655063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EDF4FF"/>
                </a:solidFill>
                <a:latin typeface="DejaVu Sans"/>
              </a:defRPr>
            </a:pPr>
            <a:r>
              <a:t>1 point: the requested conclusion has valid acquired evidence, with no false or unsupported claims.</a:t>
            </a:r>
          </a:p>
          <a:p>
            <a:pPr>
              <a:spcAft>
                <a:spcPts val="800"/>
              </a:spcAft>
              <a:defRPr sz="1900" b="0">
                <a:solidFill>
                  <a:srgbClr val="EDF4FF"/>
                </a:solidFill>
                <a:latin typeface="DejaVu Sans"/>
              </a:defRPr>
            </a:pPr>
            <a:r>
              <a:t>0 points: otherwise.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2560320"/>
            <a:ext cx="5285232" cy="2615184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5936" y="274320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2770632"/>
            <a:ext cx="4782312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DURING A FULL CASE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6" y="3401568"/>
            <a:ext cx="4864608" cy="1655063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Credit for supported required findings.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−0.20 per distinct false finding.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−0.10 per distinct unsupported finding.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Final score stays between 0 and 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A correct guess without evidence earns no credit. A Python verifier assigns the score; a language model does not grade the investigation.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THE MEASURED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Practice improved. Full cases remain difficult.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11 /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1920240"/>
            <a:ext cx="10881360" cy="6400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66E6CD"/>
                </a:solidFill>
                <a:latin typeface="DejaVu Sans"/>
              </a:defRPr>
            </a:pPr>
            <a:r>
              <a:t>6,000 practice runs · 132 learned weights · 48 seconds on a CPU · no training API calls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880360"/>
            <a:ext cx="548640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EDF4FF"/>
                </a:solidFill>
                <a:latin typeface="DejaVu Sans"/>
              </a:defRPr>
            </a:pPr>
            <a:r>
              <a:t>Before training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97880" y="2990088"/>
            <a:ext cx="4343400" cy="201168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97880" y="2990088"/>
            <a:ext cx="135731" cy="201168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69880" y="2880360"/>
            <a:ext cx="100584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66E6CD"/>
                </a:solidFill>
                <a:latin typeface="DejaVu Sans"/>
              </a:defRPr>
            </a:pPr>
            <a:r>
              <a:t>3/96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703320"/>
            <a:ext cx="548640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EDF4FF"/>
                </a:solidFill>
                <a:latin typeface="DejaVu Sans"/>
              </a:defRPr>
            </a:pPr>
            <a:r>
              <a:t>After training: sampled choices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97880" y="3813048"/>
            <a:ext cx="4343400" cy="201168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97880" y="3813048"/>
            <a:ext cx="4026693" cy="201168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69880" y="3703320"/>
            <a:ext cx="100584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66E6CD"/>
                </a:solidFill>
                <a:latin typeface="DejaVu Sans"/>
              </a:defRPr>
            </a:pPr>
            <a:r>
              <a:t>89/96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526280"/>
            <a:ext cx="548640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EDF4FF"/>
                </a:solidFill>
                <a:latin typeface="DejaVu Sans"/>
              </a:defRPr>
            </a:pPr>
            <a:r>
              <a:t>After training: top choice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97880" y="4636008"/>
            <a:ext cx="4343400" cy="201168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897880" y="4636008"/>
            <a:ext cx="4343400" cy="201168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69880" y="4526280"/>
            <a:ext cx="100584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66E6CD"/>
                </a:solidFill>
                <a:latin typeface="DejaVu Sans"/>
              </a:defRPr>
            </a:pPr>
            <a:r>
              <a:t>96/96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532120"/>
            <a:ext cx="1078992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48 practice setups and 48 separate test setups. Each test setup was evaluated twice, using the same kinds of practice problem.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These results measure choosing among prepared actions. They do not show that a model can solve any murder case.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FULL INVESTIGATIONS EXCLUDED FROM 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The harder test exposed the gap.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We froze the new weights, then tested two tasks from the original Mercy House incident.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12 / 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606040"/>
            <a:ext cx="10972800" cy="105156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" y="2852928"/>
            <a:ext cx="4434840" cy="502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EDF4FF"/>
                </a:solidFill>
                <a:latin typeface="DejaVu Sans"/>
              </a:defRPr>
            </a:pPr>
            <a:r>
              <a:t>Establish the fatal assault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2752344"/>
            <a:ext cx="265176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A4B6CD"/>
                </a:solidFill>
                <a:latin typeface="DejaVu Sans"/>
              </a:defRPr>
            </a:pPr>
            <a:r>
              <a:t>MODEL’S FIRST CHOICE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3081528"/>
            <a:ext cx="26517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C177"/>
                </a:solidFill>
                <a:latin typeface="DejaVu Sans"/>
              </a:defRPr>
            </a:pPr>
            <a:r>
              <a:t>0.0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86216" y="2752344"/>
            <a:ext cx="265176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A4B6CD"/>
                </a:solidFill>
                <a:latin typeface="DejaVu Sans"/>
              </a:defRPr>
            </a:pPr>
            <a:r>
              <a:t>TRAINED SELECTOR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86216" y="3081528"/>
            <a:ext cx="26517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C177"/>
                </a:solidFill>
                <a:latin typeface="DejaVu Sans"/>
              </a:defRPr>
            </a:pPr>
            <a:r>
              <a:t>0.0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886200"/>
            <a:ext cx="10972800" cy="105156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" y="4133087"/>
            <a:ext cx="4434840" cy="502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EDF4FF"/>
                </a:solidFill>
                <a:latin typeface="DejaVu Sans"/>
              </a:defRPr>
            </a:pPr>
            <a:r>
              <a:t>Explain all seven material acts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4032504"/>
            <a:ext cx="265176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A4B6CD"/>
                </a:solidFill>
                <a:latin typeface="DejaVu Sans"/>
              </a:defRPr>
            </a:pPr>
            <a:r>
              <a:t>MODEL’S FIRST CHOICE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4361688"/>
            <a:ext cx="26517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C177"/>
                </a:solidFill>
                <a:latin typeface="DejaVu Sans"/>
              </a:defRPr>
            </a:pPr>
            <a:r>
              <a:t>0.0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86216" y="4032504"/>
            <a:ext cx="265176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A4B6CD"/>
                </a:solidFill>
                <a:latin typeface="DejaVu Sans"/>
              </a:defRPr>
            </a:pPr>
            <a:r>
              <a:t>TRAINED SELECTOR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6" y="4361688"/>
            <a:ext cx="26517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C177"/>
                </a:solidFill>
                <a:latin typeface="DejaVu Sans"/>
              </a:defRPr>
            </a:pPr>
            <a:r>
              <a:t>0.0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440680"/>
            <a:ext cx="1069848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A4B6CD"/>
                </a:solidFill>
                <a:latin typeface="DejaVu Sans"/>
              </a:defRPr>
            </a:pPr>
            <a:r>
              <a:t>Neither method completed the two tasks. Full-case improvement remains unproven.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Same proposal rules, fixed character responses and 40 choices per run. Four runs are a small comparison, not a broad performance claim.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TESTING AND LIVE DEMONSTRATION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Checked, corrected and ready to inspect.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13 / 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560320"/>
            <a:ext cx="3520440" cy="256032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" y="274320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770632"/>
            <a:ext cx="301752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CASE CONSISTENCY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401568"/>
            <a:ext cx="3099816" cy="1600199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184 task-and-seed checks passed. We fixed mixed-up roles, weak document attribution and impossible witness details.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2544" y="2560320"/>
            <a:ext cx="3520440" cy="256032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17136" y="274320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1728" y="2770632"/>
            <a:ext cx="301752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SOFTWARE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6" y="3401568"/>
            <a:ext cx="3099816" cy="1600199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124 world/runtime tests.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9 earlier regression tests.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14 viewer tests.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Desktop and mobile checks.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10727" y="2560320"/>
            <a:ext cx="3520440" cy="256032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75319" y="274320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39911" y="2770632"/>
            <a:ext cx="301752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TRY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401568"/>
            <a:ext cx="3099816" cy="1600199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Open the demo without signing in. Watch a recorded case, or enter your own API key to start a live investigation.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A hosted beginner test scored 1.0. Difficult live cases remain unproven; a witness can refuse to disclose crucial evidence.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QUESTIONS &amp; LIVE DEMONSTRATION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Thank you.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Scan to explore the source or watch an investigation unfold.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14 / 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68880"/>
            <a:ext cx="5276088" cy="3072384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679192"/>
            <a:ext cx="48006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66E6CD"/>
                </a:solidFill>
                <a:latin typeface="DejaVu Sans"/>
              </a:defRPr>
            </a:pPr>
            <a:r>
              <a:t>SOURCE REPOSITORY</a:t>
            </a:r>
          </a:p>
        </p:txBody>
      </p:sp>
      <p:pic>
        <p:nvPicPr>
          <p:cNvPr id="15" name="Picture 14" descr="qr-reposi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46120"/>
            <a:ext cx="1865376" cy="1865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62656" y="3364992"/>
            <a:ext cx="2706624" cy="10972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66E6CD"/>
                </a:solidFill>
                <a:latin typeface="DejaVu Sans"/>
              </a:defRPr>
            </a:pPr>
            <a:r>
              <a:rPr>
                <a:hlinkClick r:id="rId3"/>
              </a:rPr>
              <a:t>github.com/</a:t>
            </a:r>
          </a:p>
          <a:p>
            <a:pPr>
              <a:spcAft>
                <a:spcPts val="800"/>
              </a:spcAft>
              <a:defRPr sz="1400" b="1">
                <a:solidFill>
                  <a:srgbClr val="66E6CD"/>
                </a:solidFill>
                <a:latin typeface="DejaVu Sans"/>
              </a:defRPr>
            </a:pPr>
            <a:r>
              <a:rPr>
                <a:hlinkClick r:id="rId3"/>
              </a:rPr>
              <a:t>Abhishek-Punhani/</a:t>
            </a:r>
          </a:p>
          <a:p>
            <a:pPr>
              <a:spcAft>
                <a:spcPts val="800"/>
              </a:spcAft>
              <a:defRPr sz="1400" b="1">
                <a:solidFill>
                  <a:srgbClr val="66E6CD"/>
                </a:solidFill>
                <a:latin typeface="DejaVu Sans"/>
              </a:defRPr>
            </a:pPr>
            <a:r>
              <a:rPr>
                <a:hlinkClick r:id="rId3"/>
              </a:rPr>
              <a:t>mercy-house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62656" y="4590288"/>
            <a:ext cx="2670048" cy="6400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A4B6CD"/>
                </a:solidFill>
                <a:latin typeface="DejaVu Sans"/>
              </a:defRPr>
            </a:pPr>
            <a:r>
              <a:t>Public source and project documentation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2784" y="2468880"/>
            <a:ext cx="5276088" cy="3072384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679192"/>
            <a:ext cx="48006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66E6CD"/>
                </a:solidFill>
                <a:latin typeface="DejaVu Sans"/>
              </a:defRPr>
            </a:pPr>
            <a:r>
              <a:t>LIVE DEMONSTRATION</a:t>
            </a:r>
          </a:p>
        </p:txBody>
      </p:sp>
      <p:pic>
        <p:nvPicPr>
          <p:cNvPr id="20" name="Picture 19" descr="qr-live-dem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384" y="3246120"/>
            <a:ext cx="1865376" cy="18653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595360" y="3364992"/>
            <a:ext cx="2706624" cy="10972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66E6CD"/>
                </a:solidFill>
                <a:latin typeface="DejaVu Sans"/>
              </a:defRPr>
            </a:pPr>
            <a:r>
              <a:rPr>
                <a:hlinkClick r:id="rId5"/>
              </a:rPr>
              <a:t>mercyhouse.abhi07.xyz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590288"/>
            <a:ext cx="2670048" cy="6400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A4B6CD"/>
                </a:solidFill>
                <a:latin typeface="DejaVu Sans"/>
              </a:defRPr>
            </a:pPr>
            <a:r>
              <a:t>Open access · no sign-in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Aditya Ahirwar  •  Abhishek  •  Tapis Samaiya  |  Kasukabe Defence Force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66E6CD"/>
      </a:hlink>
      <a:folHlink>
        <a:srgbClr val="A2ADFF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