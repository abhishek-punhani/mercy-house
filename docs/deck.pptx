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The Mentalist S1E7 Seeing Red https://www.tvmaze.com/episodes/8884/the-mentalist-1x07-seeing-red ; S1E8 The Thin Red Line https://tv.apple.com/nz/episode/thin-red-line/umc.cmc.343dcf9kznkxsuz2rx6jcazs9 ; His &amp; Hers official ending https://www.netflix.com/tudum/articles/his-hers-episode-6-recap-ending-explained . Broad mechanisms only; no episode transcript training or original-plot generalization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EVIDENCE-GROUNDED AGENT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Truth needs a chain of evidence.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01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74519"/>
            <a:ext cx="5486400" cy="10515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66E6CD"/>
                </a:solidFill>
                <a:latin typeface="DejaVu Sans"/>
              </a:defRPr>
            </a:pPr>
            <a:r>
              <a:t>An investigation world for language agents.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72384"/>
            <a:ext cx="5212080" cy="10515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EDF4FF"/>
                </a:solidFill>
                <a:latin typeface="DejaVu Sans"/>
              </a:defRPr>
            </a:pPr>
            <a:r>
              <a:t>A snowbound town in 1900. Private lives, limited witnesses and evidence that can point at the wrong person.</a:t>
            </a:r>
          </a:p>
        </p:txBody>
      </p:sp>
      <p:pic>
        <p:nvPicPr>
          <p:cNvPr id="14" name="Picture 13" descr="ui-int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769" y="1874519"/>
            <a:ext cx="5141540" cy="37490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660136"/>
            <a:ext cx="512064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A4B6CD"/>
                </a:solidFill>
                <a:latin typeface="DejaVu Sans"/>
              </a:defRPr>
            </a:pPr>
            <a:r>
              <a:t>Shown: scripted inquest reference, not a live solve.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09160"/>
            <a:ext cx="1554480" cy="102412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6"/>
            <a:ext cx="1188720" cy="4389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66E6CD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358384"/>
            <a:ext cx="128016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PUBLIC TASKS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4709160"/>
            <a:ext cx="1554480" cy="102412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4791456"/>
            <a:ext cx="1188720" cy="4389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66E6CD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5358384"/>
            <a:ext cx="128016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CASE FAMILIES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4709160"/>
            <a:ext cx="1554480" cy="102412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06824" y="4791456"/>
            <a:ext cx="1188720" cy="4389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66E6CD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6824" y="5358384"/>
            <a:ext cx="128016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DESIGNED LEVELS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 competition deliverable is the environment. Judges supply their detective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WHAT THE ENVIRONMENT ASKS AN AGENT TO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agent controls the investigation.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It starts with its own biography and the local scene. The answer and hidden event journal remain private.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02 /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468880"/>
            <a:ext cx="2651760" cy="23317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65176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67919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01  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10128"/>
            <a:ext cx="2231136" cy="13715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Choose a place and inspect visible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2468880"/>
            <a:ext cx="2651760" cy="23317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5304" y="265176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67919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02  INTERVIEW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3310128"/>
            <a:ext cx="2231136" cy="13715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Question people; separate experience from hearsay.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2468880"/>
            <a:ext cx="2651760" cy="23317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91656" y="265176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267919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03 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310128"/>
            <a:ext cx="2231136" cy="13715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Compare acquired documents and physical traces.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3416" y="2468880"/>
            <a:ext cx="2651760" cy="23317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8008" y="265176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67919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04 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3310128"/>
            <a:ext cx="2231136" cy="13715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Cite sources for each conclusion; retain uncertainty.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166360"/>
            <a:ext cx="10881360" cy="6583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A4B6CD"/>
                </a:solidFill>
                <a:latin typeface="DejaVu Sans"/>
              </a:defRPr>
            </a:pPr>
            <a:r>
              <a:t>Beginner: one witnessed assault. Intermediate: two casualties and an intended target. Advanced: fabrication, custody, historical records and divided loyalties.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Eight task scopes across four causal families; difficulty labels describe design complexity, not measured success bands.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WORLD STATE AND CAUSAL TRACES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incident executes before arrival.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Validated transitions produce the injury, objects and local recollections that the detective can investigate.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03 /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14600"/>
            <a:ext cx="2651760" cy="1874519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2491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ACTION TAPE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55848"/>
            <a:ext cx="2231136" cy="9143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Recorded or authored</a:t>
            </a:r>
          </a:p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seeded decisions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2514600"/>
            <a:ext cx="2651760" cy="1874519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5304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72491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WORLD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3355848"/>
            <a:ext cx="2231136" cy="9143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Movement, possession,</a:t>
            </a:r>
          </a:p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attack and delivery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2514600"/>
            <a:ext cx="2651760" cy="1874519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91656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272491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LOCAL EFFECTS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355848"/>
            <a:ext cx="2231136" cy="9143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Physical traces +</a:t>
            </a:r>
          </a:p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limited perception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3416" y="2514600"/>
            <a:ext cx="2651760" cy="1874519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8008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72491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3355848"/>
            <a:ext cx="2231136" cy="9143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Persistent tools,</a:t>
            </a:r>
          </a:p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receipts and dialogue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599432"/>
            <a:ext cx="3429000" cy="112471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8952" y="4782312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4809744"/>
            <a:ext cx="292608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NO ASSAULT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5440680"/>
            <a:ext cx="3008376" cy="16459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EDF4FF"/>
                </a:solidFill>
                <a:latin typeface="DejaVu Sans"/>
              </a:defRPr>
            </a:pPr>
            <a:r>
              <a:t>No fatal lamp injury.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599432"/>
            <a:ext cx="3429000" cy="112471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53712" y="4782312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304" y="4809744"/>
            <a:ext cx="292608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INTACT BRAKE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5440680"/>
            <a:ext cx="3008376" cy="16459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EDF4FF"/>
                </a:solidFill>
                <a:latin typeface="DejaVu Sans"/>
              </a:defRPr>
            </a:pPr>
            <a:r>
              <a:t>No sabotage-caused coach deaths.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83879" y="4599432"/>
            <a:ext cx="3429000" cy="112471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48471" y="4782312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13063" y="4809744"/>
            <a:ext cx="292608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ORDINARY CORDIAL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5440680"/>
            <a:ext cx="3008376" cy="16459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EDF4FF"/>
                </a:solidFill>
                <a:latin typeface="DejaVu Sans"/>
              </a:defRPr>
            </a:pPr>
            <a:r>
              <a:t>No adulteration-caused death.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Mercy House replays recorded LLM actions. New cases execute authored seeded tapes. Continuous offstage lives are unfinished.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CHARACTER MODEL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Each character owns its memories.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Private planning and public speech use separate contexts; physical truth stays in the engine.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04 /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146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24912"/>
            <a:ext cx="28803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PRIVATE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55848"/>
            <a:ext cx="2962656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Own life, local memories and legal choices. The raw detective question is replaced by derived topics.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25146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0" y="269748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2724912"/>
            <a:ext cx="28803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DISCLOSURE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355848"/>
            <a:ext cx="2962656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Trust, relevant acquired evidence and memory sensitivity determine which recollections may be released.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5146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85048" y="269748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2724912"/>
            <a:ext cx="28803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PUBLIC SPEAKER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8" y="3355848"/>
            <a:ext cx="2962656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Only released recollections and public context become the spoken answer. Dialogue cannot create objects.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248656"/>
            <a:ext cx="10881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A4B6CD"/>
                </a:solidFill>
                <a:latin typeface="DejaVu Sans"/>
              </a:defRPr>
            </a:pPr>
            <a:r>
              <a:t>The viewer streams observed actions, actual dialogue and stated notes. It excludes private character memories and provider reasoning.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OBSERVABLE RESULTS AND OFFICIAL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submitted report stays visible.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05 / 12</a:t>
            </a:r>
          </a:p>
        </p:txBody>
      </p:sp>
      <p:pic>
        <p:nvPicPr>
          <p:cNvPr id="12" name="Picture 11" descr="u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1828800"/>
            <a:ext cx="5705855" cy="41605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60920" y="1965960"/>
            <a:ext cx="4206240" cy="363931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3749039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PROGRAMMATIC VERIFIER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761488"/>
            <a:ext cx="3703320" cy="7040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EDF4FF"/>
                </a:solidFill>
                <a:latin typeface="DejaVu Sans"/>
              </a:defRPr>
            </a:pPr>
            <a:r>
              <a:t>R = clamp(C − .20F − .10U, 0, 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685032"/>
            <a:ext cx="3675887" cy="1709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C: supported target coverage</a:t>
            </a:r>
          </a:p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F: distinct false findings</a:t>
            </a:r>
          </a:p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U: distinct unsupported findings</a:t>
            </a:r>
          </a:p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A correct guess without proof earns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Screenshot: actual native detective success, Lantern Room seed211. Narrative is unscored. Optional author-review LLM cannot assign rewards.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IMPLEMENTATION AND ISOLATION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 small stack with explicit boundaries.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Python standard-library runtime • Vanilla JavaScript, CSS and original SVG • Docker Compose • HTTPS model APIs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06 /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14600"/>
            <a:ext cx="2560320" cy="24231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24912"/>
            <a:ext cx="2057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PROTECTED WORLD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55848"/>
            <a:ext cx="2139696" cy="146303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Python state engine, receipts, proof routes and deterministic verifier.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2514600"/>
            <a:ext cx="2560320" cy="24231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5304" y="269748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724912"/>
            <a:ext cx="2057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TRUSTED HARNESS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3355848"/>
            <a:ext cx="2139696" cy="146303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Model-independent parsing, step/time budgets, private HTTP tool requests and JSONL logs.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2514600"/>
            <a:ext cx="2560320" cy="24231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91655" y="269748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2724912"/>
            <a:ext cx="2057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MODEL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355848"/>
            <a:ext cx="2139696" cy="146303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Configured endpoints, credential isolation, deadlines and request limits.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3416" y="2514600"/>
            <a:ext cx="2560320" cy="24231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8008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724912"/>
            <a:ext cx="2057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AGENT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3355848"/>
            <a:ext cx="2139696" cy="146303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EDF4FF"/>
                </a:solidFill>
                <a:latin typeface="DejaVu Sans"/>
              </a:defRPr>
            </a:pPr>
            <a:r>
              <a:t>Real shell plus public town CLI; no keys, truth files or external route.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257800"/>
            <a:ext cx="10881360" cy="58521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A4B6CD"/>
                </a:solidFill>
                <a:latin typeface="DejaVu Sans"/>
              </a:defRPr>
            </a:pPr>
            <a:r>
              <a:t>Presentation UI: local Python HTTP server + server-sent events. Policy training: CPU REINFORCE over a linear softmax selector; no GPU or LLM fine-tuning.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Workspace has no Docker socket, private mounts or control token. Security assumes a trusted host and Docker daemon.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TRAINED 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RL learns which proposed action to execute.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Optional research policy: a compact learned selector ranks actions using public features. The native UI/judging detective remains independent.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07 /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14600"/>
            <a:ext cx="3575304" cy="24231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2491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OBSERVED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55848"/>
            <a:ext cx="3154680" cy="146303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Acquired records, comparisons, interviews, repeat attempts and steps left.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14600"/>
            <a:ext cx="3575304" cy="24231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69748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2491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CANDIDATE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355848"/>
            <a:ext cx="3154680" cy="146303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An authored public proposer during CPU training; an LLM proposer during transfer tests.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14600"/>
            <a:ext cx="3575304" cy="24231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69748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2491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LEARNED SELECTOR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355848"/>
            <a:ext cx="3154680" cy="146303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Scores features, produces action probabilities, and executes one choice.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03520"/>
            <a:ext cx="10835640" cy="52120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REINFORCE raises the probability of action sequences that earn a valid terminal exercise reward, relative to a running baseline.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Earlier prototype:20,000 episodes /460 weights. Fresh source curriculum:6,000 episodes /132 weights. Language-model weights stay fixed.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SOURCED INSPIRATION, ORIGINAL INTERACTIVE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Three mechanisms become practice exercises.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Original renamed checkpoint scenarios reuse the tested world mechanics. They do not reproduce TV scripts or complete episodes.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08 /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1460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2491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INTENDED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5584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The Mentalist S1E8</a:t>
            </a:r>
          </a:p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Separate the person targeted from the other casualty.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1460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69748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2491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APPARENT FOREKNOWLEDGE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35584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The Mentalist S1E7</a:t>
            </a:r>
          </a:p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Test authorship; prediction alone does not establish murder.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1460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69748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2491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TRUSTED RELATIVE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35584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His &amp; Hers</a:t>
            </a:r>
          </a:p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Check a familiar parent against evidence rather than loyalty or rumour.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285232"/>
            <a:ext cx="10881360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A4B6CD"/>
                </a:solidFill>
                <a:latin typeface="DejaVu Sans"/>
              </a:defRPr>
            </a:pPr>
            <a:r>
              <a:t>Both culprit assignments occur. Training starts from zero; the elite Mercy House cases are excluded from this new curriculum.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Sources credited in SOURCE_TRAINING_REPORT.md. Some materials are acquired before these checkpoints begin; this is skill 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NEW CPU TRAINING AND HELD-OUT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Reward supported inference, not activity.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09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10789920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66E6CD"/>
                </a:solidFill>
                <a:latin typeface="DejaVu Sans"/>
              </a:defRPr>
            </a:pPr>
            <a:r>
              <a:t>6000 episodes  /  48 training checkpoints  /  48 disjoint held-out checkpoints  /  CPU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743200"/>
            <a:ext cx="4800600" cy="24414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9260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953512"/>
            <a:ext cx="429768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TERMINAL EXERCISE 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584448"/>
            <a:ext cx="4379976" cy="14813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1: the scoped material finding has acquired proof and no false or unsupported conclusions.</a:t>
            </a:r>
          </a:p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0: incomplete, guessed, wrong or unsupported.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788920"/>
            <a:ext cx="429768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A4B6CD"/>
                </a:solidFill>
                <a:latin typeface="DejaVu Sans"/>
              </a:defRPr>
            </a:pPr>
            <a:r>
              <a:t>Untrained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172968"/>
            <a:ext cx="4389120" cy="16459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06440" y="3172968"/>
            <a:ext cx="137160" cy="164592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78440" y="2999232"/>
            <a:ext cx="1097280" cy="34747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DF4FF"/>
                </a:solidFill>
                <a:latin typeface="DejaVu Sans"/>
              </a:defRPr>
            </a:pPr>
            <a:r>
              <a:t>3.1%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703320"/>
            <a:ext cx="429768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A4B6CD"/>
                </a:solidFill>
                <a:latin typeface="DejaVu Sans"/>
              </a:defRPr>
            </a:pPr>
            <a:r>
              <a:t>Trained sampling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087368"/>
            <a:ext cx="4389120" cy="16459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06440" y="4087368"/>
            <a:ext cx="4069080" cy="164592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3913632"/>
            <a:ext cx="1097280" cy="34747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DF4FF"/>
                </a:solidFill>
                <a:latin typeface="DejaVu Sans"/>
              </a:defRPr>
            </a:pPr>
            <a:r>
              <a:t>92.7%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17720"/>
            <a:ext cx="429768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A4B6CD"/>
                </a:solidFill>
                <a:latin typeface="DejaVu Sans"/>
              </a:defRPr>
            </a:pPr>
            <a:r>
              <a:t>Trained greedy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001768"/>
            <a:ext cx="4389120" cy="16459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06440" y="5001768"/>
            <a:ext cx="4389120" cy="164592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4828032"/>
            <a:ext cx="1097280" cy="34747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DF4FF"/>
                </a:solidFill>
                <a:latin typeface="DejaVu Sans"/>
              </a:defRPr>
            </a:pPr>
            <a:r>
              <a:t>100.0%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96 trials per policy (48 checkpoints repeated twice). Prepared acquisitions + authored candidate rules. Same templates; not full-case success.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FROZEN CHECKPOINT • MATCHED PROPOSAL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Test transfer on excluded elite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Two predeclared task scopes of the excluded Mercy House incident. LLM-ranked baseline versus frozen source-trained selector;40 choices per arm.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10 /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11000232" cy="109728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743200"/>
            <a:ext cx="41148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EDF4FF"/>
                </a:solidFill>
                <a:latin typeface="DejaVu Sans"/>
              </a:defRPr>
            </a:pPr>
            <a:r>
              <a:t>Fatal assault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688336"/>
            <a:ext cx="278892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LLM-RANKED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026663"/>
            <a:ext cx="2788920" cy="4389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688336"/>
            <a:ext cx="278892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SOURCE-TRAINED SELECTOR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026663"/>
            <a:ext cx="2788920" cy="4389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913631"/>
            <a:ext cx="11000232" cy="109728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96511"/>
            <a:ext cx="41148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EDF4FF"/>
                </a:solidFill>
                <a:latin typeface="DejaVu Sans"/>
              </a:defRPr>
            </a:pPr>
            <a:r>
              <a:t>Seven-act full inquest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041647"/>
            <a:ext cx="278892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LLM-RANKED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379975"/>
            <a:ext cx="2788920" cy="4389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041647"/>
            <a:ext cx="278892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SOURCE-TRAINED SELECTOR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379975"/>
            <a:ext cx="2788920" cy="4389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440680"/>
            <a:ext cx="108356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The same grounded response bank controls NPC variation. After branches diverge, later LLM proposals may differ.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Small development comparison, not statistical superiority or the standard native-tool judging harness. Full trajectories retained.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CONSISTENCY, SOURCE-ONLY SOLVABILITY AND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Audit the case, not just the score.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11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14600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6974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2491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FACT AND PROVENANCE FIXES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355848"/>
            <a:ext cx="309981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Distinguish payer from carrier. Authenticate the register writer independently. Correct what witnesses actually perceived.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514600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17136" y="269748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272491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LEGAL PROOF ROUTES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3355848"/>
            <a:ext cx="309981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All eight reference/no-op pairs: 1 / 0. Public-information-only scripted probes solve all three new families with both culprit roles.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0727" y="2514600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19" y="269748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1" y="272491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EXECUTABLE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355848"/>
            <a:ext cx="309981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114 town + 9 legacy + 9 Node tests. Browser desktop/mobile reports, isolation probes, forged-source rejection and causal counterfactuals.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Scripted feasibility is not live cooperation. Canonical murder proof can depend on a reluctant witness or a supported admission.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DEMONSTRATION AND HANDOFF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 reviewable environment, with measured limits.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12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468880"/>
            <a:ext cx="5321808" cy="25877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65176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79192"/>
            <a:ext cx="4818888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TRY THE INVESTIGATION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310128"/>
            <a:ext cx="4901184" cy="1627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localhost:8787 → New investigation → Lantern Room, seed7 → configured key.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Then inspect the submitted report and acquired citations.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468880"/>
            <a:ext cx="5321808" cy="25877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79" y="265176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679192"/>
            <a:ext cx="4818888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WHAT IS ESTABLISHED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10128"/>
            <a:ext cx="4901184" cy="1627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Four native beginner runs scored 1.0 with live character agents. Harder-case and RL results are reported separately. Continuous autonomous lives and scored ghost causes remain unfinished.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30952"/>
            <a:ext cx="10863072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A2ADFF"/>
                </a:solidFill>
                <a:latin typeface="DejaVu Sans Mono"/>
              </a:defRPr>
            </a:pPr>
            <a:r>
              <a:t>docker compose up --build --abort-on-container-exit --exit-code-from harness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Source + baseline gates + raw runs + editable deck/PDF + security and audit evidence. Final character-model setup and submission are external.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