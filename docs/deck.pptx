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notesMaster" Target="notesMasters/notesMaster1.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The Mentalist S1E7 Seeing Red https://www.tvmaze.com/episodes/8884/the-mentalist-1x07-seeing-red ; S1E8 The Thin Red Line https://tv.apple.com/nz/episode/thin-red-line/umc.cmc.343dcf9kznkxsuz2rx6jcazs9 ; His &amp; Hers official ending https://www.netflix.com/tudum/articles/his-hers-episode-6-recap-ending-explained . Broad mechanisms only; no episode transcript training or original-plot generalization claim.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Repository: https://github.com/Abhishek-Punhani/mercy-house . Live demo: https://mercyhouse.abhi07.xyz . QR codes encode only these HTTPS URLs. The repository is private and the demo requires authentication; no credentials appear in the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claims describe implemented local artifacts and recorded development measurements. See docs/PS_COMPLIANCE_AUDIT.md, SOURCE_TRAINING_REPORT.md, ELITE_TRANSFER_RESULT.json and CASE_SOLVABILITY_AUDIT.md. Do not present scripted references as LLM success or checkpoint rates as whole-case success.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claims describe implemented local artifacts and recorded development measurements. See docs/PS_COMPLIANCE_AUDIT.md, SOURCE_TRAINING_REPORT.md, ELITE_TRANSFER_RESULT.json and CASE_SOLVABILITY_AUDIT.md. Do not present scripted references as LLM success or checkpoint rates as whole-case success.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claims describe implemented local artifacts and recorded development measurements. See docs/PS_COMPLIANCE_AUDIT.md, SOURCE_TRAINING_REPORT.md, ELITE_TRANSFER_RESULT.json and CASE_SOLVABILITY_AUDIT.md. Do not present scripted references as LLM success or checkpoint rates as whole-case success.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claims describe implemented local artifacts and recorded development measurements. See docs/PS_COMPLIANCE_AUDIT.md, SOURCE_TRAINING_REPORT.md, ELITE_TRANSFER_RESULT.json and CASE_SOLVABILITY_AUDIT.md. Do not present scripted references as LLM success or checkpoint rates as whole-case success.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claims describe implemented local artifacts and recorded development measurements. See docs/PS_COMPLIANCE_AUDIT.md, SOURCE_TRAINING_REPORT.md, ELITE_TRANSFER_RESULT.json and CASE_SOLVABILITY_AUDIT.md. Do not present scripted references as LLM success or checkpoint rates as whole-case success.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claims describe implemented local artifacts and recorded development measurements. See docs/PS_COMPLIANCE_AUDIT.md, SOURCE_TRAINING_REPORT.md, ELITE_TRANSFER_RESULT.json and CASE_SOLVABILITY_AUDIT.md. Do not present scripted references as LLM success or checkpoint rates as whole-case success.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claims describe implemented local artifacts and recorded development measurements. See docs/PS_COMPLIANCE_AUDIT.md, SOURCE_TRAINING_REPORT.md, ELITE_TRANSFER_RESULT.json and CASE_SOLVABILITY_AUDIT.md. Do not present scripted references as LLM success or checkpoint rates as whole-case success.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claims describe implemented local artifacts and recorded development measurements. See docs/PS_COMPLIANCE_AUDIT.md, SOURCE_TRAINING_REPORT.md, ELITE_TRANSFER_RESULT.json and CASE_SOLVABILITY_AUDIT.md. Do not present scripted references as LLM success or checkpoint rates as whole-case success.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claims describe implemented local artifacts and recorded development measurements. See docs/PS_COMPLIANCE_AUDIT.md, SOURCE_TRAINING_REPORT.md, ELITE_TRANSFER_RESULT.json and CASE_SOLVABILITY_AUDIT.md. Do not present scripted references as LLM success or checkpoint rates as whole-case success.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claims describe implemented local artifacts and recorded development measurements. See docs/PS_COMPLIANCE_AUDIT.md, SOURCE_TRAINING_REPORT.md, ELITE_TRANSFER_RESULT.json and CASE_SOLVABILITY_AUDIT.md. Do not present scripted references as LLM success or checkpoint rates as whole-case success.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claims describe implemented local artifacts and recorded development measurements. See docs/PS_COMPLIANCE_AUDIT.md, SOURCE_TRAINING_REPORT.md, ELITE_TRANSFER_RESULT.json and CASE_SOLVABILITY_AUDIT.md. Do not present scripted references as LLM success or checkpoint rates as whole-case success.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claims describe implemented local artifacts and recorded development measurements. See docs/PS_COMPLIANCE_AUDIT.md, SOURCE_TRAINING_REPORT.md, ELITE_TRANSFER_RESULT.json and CASE_SOLVABILITY_AUDIT.md. Do not present scripted references as LLM success or checkpoint rates as whole-case success.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github.com/Abhishek-Punhani/mercy-house" TargetMode="External"/><Relationship Id="rId4" Type="http://schemas.openxmlformats.org/officeDocument/2006/relationships/image" Target="../media/image4.png"/><Relationship Id="rId5" Type="http://schemas.openxmlformats.org/officeDocument/2006/relationships/hyperlink" Target="https://mercyhouse.abhi07.xyz" TargetMode="External"/><Relationship Id="rId6"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0F1B"/>
        </a:solidFill>
        <a:effectLst/>
      </p:bgPr>
    </p:bg>
    <p:spTree>
      <p:nvGrpSpPr>
        <p:cNvPr id="1" name=""/>
        <p:cNvGrpSpPr/>
        <p:nvPr/>
      </p:nvGrpSpPr>
      <p:grpSpPr/>
      <p:sp>
        <p:nvSpPr>
          <p:cNvPr id="2" name="Rectangle 1"/>
          <p:cNvSpPr/>
          <p:nvPr/>
        </p:nvSpPr>
        <p:spPr>
          <a:xfrm>
            <a:off x="758952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68680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78408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88136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38912" y="347472"/>
            <a:ext cx="91440" cy="146304"/>
          </a:xfrm>
          <a:prstGeom prst="rect">
            <a:avLst/>
          </a:prstGeom>
          <a:solidFill>
            <a:srgbClr val="66E6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8" y="301752"/>
            <a:ext cx="10058400" cy="219456"/>
          </a:xfrm>
          <a:prstGeom prst="rect">
            <a:avLst/>
          </a:prstGeom>
          <a:noFill/>
        </p:spPr>
        <p:txBody>
          <a:bodyPr wrap="square" lIns="13716" rIns="13716" tIns="0" bIns="0">
            <a:spAutoFit/>
          </a:bodyPr>
          <a:lstStyle/>
          <a:p>
            <a:pPr>
              <a:spcAft>
                <a:spcPts val="800"/>
              </a:spcAft>
              <a:defRPr sz="1000" b="1">
                <a:solidFill>
                  <a:srgbClr val="66E6CD"/>
                </a:solidFill>
                <a:latin typeface="DejaVu Sans"/>
              </a:defRPr>
            </a:pPr>
            <a:r>
              <a:t>MERCY HOUSE  /  KASUKABE DEFENCE FORCE</a:t>
            </a:r>
          </a:p>
        </p:txBody>
      </p:sp>
      <p:sp>
        <p:nvSpPr>
          <p:cNvPr id="8" name="TextBox 7"/>
          <p:cNvSpPr txBox="1"/>
          <p:nvPr/>
        </p:nvSpPr>
        <p:spPr>
          <a:xfrm>
            <a:off x="548640" y="859536"/>
            <a:ext cx="11064240" cy="822960"/>
          </a:xfrm>
          <a:prstGeom prst="rect">
            <a:avLst/>
          </a:prstGeom>
          <a:noFill/>
        </p:spPr>
        <p:txBody>
          <a:bodyPr wrap="square" lIns="13716" rIns="13716" tIns="0" bIns="0">
            <a:spAutoFit/>
          </a:bodyPr>
          <a:lstStyle/>
          <a:p>
            <a:pPr>
              <a:spcAft>
                <a:spcPts val="800"/>
              </a:spcAft>
              <a:defRPr sz="3100" b="1">
                <a:solidFill>
                  <a:srgbClr val="EDF4FF"/>
                </a:solidFill>
                <a:latin typeface="DejaVu Sans"/>
              </a:defRPr>
            </a:pPr>
            <a:r>
              <a:t>MERCY HOUSE</a:t>
            </a:r>
          </a:p>
        </p:txBody>
      </p:sp>
      <p:sp>
        <p:nvSpPr>
          <p:cNvPr id="9" name="TextBox 8"/>
          <p:cNvSpPr txBox="1"/>
          <p:nvPr/>
        </p:nvSpPr>
        <p:spPr>
          <a:xfrm>
            <a:off x="566928" y="1691640"/>
            <a:ext cx="10972800" cy="594360"/>
          </a:xfrm>
          <a:prstGeom prst="rect">
            <a:avLst/>
          </a:prstGeom>
          <a:noFill/>
        </p:spPr>
        <p:txBody>
          <a:bodyPr wrap="square" lIns="13716" rIns="13716" tIns="0" bIns="0">
            <a:spAutoFit/>
          </a:bodyPr>
          <a:lstStyle/>
          <a:p>
            <a:pPr>
              <a:spcAft>
                <a:spcPts val="800"/>
              </a:spcAft>
              <a:defRPr sz="1500" b="0">
                <a:solidFill>
                  <a:srgbClr val="A4B6CD"/>
                </a:solidFill>
                <a:latin typeface="DejaVu Sans"/>
              </a:defRPr>
            </a:pPr>
            <a:r>
              <a:t>An evidence-grounded investigation environment for language agents.</a:t>
            </a:r>
          </a:p>
        </p:txBody>
      </p:sp>
      <p:sp>
        <p:nvSpPr>
          <p:cNvPr id="10" name="Rectangle 9"/>
          <p:cNvSpPr/>
          <p:nvPr/>
        </p:nvSpPr>
        <p:spPr>
          <a:xfrm>
            <a:off x="548640" y="6428232"/>
            <a:ext cx="11064240" cy="10972"/>
          </a:xfrm>
          <a:prstGeom prst="rect">
            <a:avLst/>
          </a:prstGeom>
          <a:solidFill>
            <a:srgbClr val="2435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6537960"/>
            <a:ext cx="10332720" cy="201168"/>
          </a:xfrm>
          <a:prstGeom prst="rect">
            <a:avLst/>
          </a:prstGeom>
          <a:noFill/>
        </p:spPr>
        <p:txBody>
          <a:bodyPr wrap="square" lIns="13716" rIns="13716" tIns="0" bIns="0">
            <a:spAutoFit/>
          </a:bodyPr>
          <a:lstStyle/>
          <a:p>
            <a:pPr>
              <a:spcAft>
                <a:spcPts val="800"/>
              </a:spcAft>
              <a:defRPr sz="800" b="0">
                <a:solidFill>
                  <a:srgbClr val="A4B6CD"/>
                </a:solidFill>
                <a:latin typeface="DejaVu Sans"/>
              </a:defRPr>
            </a:pPr>
            <a:r>
              <a:t>KASUKABE DEFENCE FORCE  •  RL ENVIRONMENT HACKATHON</a:t>
            </a:r>
          </a:p>
        </p:txBody>
      </p:sp>
      <p:sp>
        <p:nvSpPr>
          <p:cNvPr id="12" name="TextBox 11"/>
          <p:cNvSpPr txBox="1"/>
          <p:nvPr/>
        </p:nvSpPr>
        <p:spPr>
          <a:xfrm>
            <a:off x="10972800" y="6510528"/>
            <a:ext cx="640080" cy="228600"/>
          </a:xfrm>
          <a:prstGeom prst="rect">
            <a:avLst/>
          </a:prstGeom>
          <a:noFill/>
        </p:spPr>
        <p:txBody>
          <a:bodyPr wrap="square" lIns="13716" rIns="13716" tIns="0" bIns="0">
            <a:spAutoFit/>
          </a:bodyPr>
          <a:lstStyle/>
          <a:p>
            <a:pPr>
              <a:spcAft>
                <a:spcPts val="800"/>
              </a:spcAft>
              <a:defRPr sz="900" b="0">
                <a:solidFill>
                  <a:srgbClr val="66E6CD"/>
                </a:solidFill>
                <a:latin typeface="DejaVu Sans"/>
              </a:defRPr>
            </a:pPr>
            <a:r>
              <a:t>01 / 14</a:t>
            </a:r>
          </a:p>
        </p:txBody>
      </p:sp>
      <p:sp>
        <p:nvSpPr>
          <p:cNvPr id="13" name="TextBox 12"/>
          <p:cNvSpPr txBox="1"/>
          <p:nvPr/>
        </p:nvSpPr>
        <p:spPr>
          <a:xfrm>
            <a:off x="630936" y="2377440"/>
            <a:ext cx="10515600" cy="658368"/>
          </a:xfrm>
          <a:prstGeom prst="rect">
            <a:avLst/>
          </a:prstGeom>
          <a:noFill/>
        </p:spPr>
        <p:txBody>
          <a:bodyPr wrap="square" lIns="13716" rIns="13716" tIns="0" bIns="0">
            <a:spAutoFit/>
          </a:bodyPr>
          <a:lstStyle/>
          <a:p>
            <a:pPr>
              <a:spcAft>
                <a:spcPts val="800"/>
              </a:spcAft>
              <a:defRPr sz="2600" b="1">
                <a:solidFill>
                  <a:srgbClr val="66E6CD"/>
                </a:solidFill>
                <a:latin typeface="DejaVu Sans"/>
              </a:defRPr>
            </a:pPr>
            <a:r>
              <a:t>Private memories. Conflicting accounts. Verifiable conclusions.</a:t>
            </a:r>
          </a:p>
        </p:txBody>
      </p:sp>
      <p:sp>
        <p:nvSpPr>
          <p:cNvPr id="14" name="TextBox 13"/>
          <p:cNvSpPr txBox="1"/>
          <p:nvPr/>
        </p:nvSpPr>
        <p:spPr>
          <a:xfrm>
            <a:off x="658368" y="3337560"/>
            <a:ext cx="10424160" cy="320040"/>
          </a:xfrm>
          <a:prstGeom prst="rect">
            <a:avLst/>
          </a:prstGeom>
          <a:noFill/>
        </p:spPr>
        <p:txBody>
          <a:bodyPr wrap="square" lIns="13716" rIns="13716" tIns="0" bIns="0">
            <a:spAutoFit/>
          </a:bodyPr>
          <a:lstStyle/>
          <a:p>
            <a:pPr>
              <a:spcAft>
                <a:spcPts val="800"/>
              </a:spcAft>
              <a:defRPr sz="1200" b="1">
                <a:solidFill>
                  <a:srgbClr val="A4B6CD"/>
                </a:solidFill>
                <a:latin typeface="DejaVu Sans"/>
              </a:defRPr>
            </a:pPr>
            <a:r>
              <a:t>PRESENTED BY</a:t>
            </a:r>
          </a:p>
        </p:txBody>
      </p:sp>
      <p:sp>
        <p:nvSpPr>
          <p:cNvPr id="15" name="Rounded Rectangle 14"/>
          <p:cNvSpPr/>
          <p:nvPr/>
        </p:nvSpPr>
        <p:spPr>
          <a:xfrm>
            <a:off x="640080" y="3867912"/>
            <a:ext cx="3602736" cy="1069848"/>
          </a:xfrm>
          <a:prstGeom prst="roundRect">
            <a:avLst>
              <a:gd name="adj" fmla="val 8000"/>
            </a:avLst>
          </a:prstGeom>
          <a:solidFill>
            <a:srgbClr val="111D30"/>
          </a:solidFill>
          <a:ln>
            <a:solidFill>
              <a:srgbClr val="2435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4187952"/>
            <a:ext cx="3200400" cy="411480"/>
          </a:xfrm>
          <a:prstGeom prst="rect">
            <a:avLst/>
          </a:prstGeom>
          <a:noFill/>
        </p:spPr>
        <p:txBody>
          <a:bodyPr wrap="square" lIns="13716" rIns="13716" tIns="0" bIns="0">
            <a:spAutoFit/>
          </a:bodyPr>
          <a:lstStyle/>
          <a:p>
            <a:pPr>
              <a:spcAft>
                <a:spcPts val="800"/>
              </a:spcAft>
              <a:defRPr sz="2200" b="1">
                <a:solidFill>
                  <a:srgbClr val="EDF4FF"/>
                </a:solidFill>
                <a:latin typeface="DejaVu Sans"/>
              </a:defRPr>
            </a:pPr>
            <a:r>
              <a:t>Aditya Ahirwar</a:t>
            </a:r>
          </a:p>
        </p:txBody>
      </p:sp>
      <p:sp>
        <p:nvSpPr>
          <p:cNvPr id="17" name="Rounded Rectangle 16"/>
          <p:cNvSpPr/>
          <p:nvPr/>
        </p:nvSpPr>
        <p:spPr>
          <a:xfrm>
            <a:off x="4443984" y="3867912"/>
            <a:ext cx="3602736" cy="1069848"/>
          </a:xfrm>
          <a:prstGeom prst="roundRect">
            <a:avLst>
              <a:gd name="adj" fmla="val 8000"/>
            </a:avLst>
          </a:prstGeom>
          <a:solidFill>
            <a:srgbClr val="111D30"/>
          </a:solidFill>
          <a:ln>
            <a:solidFill>
              <a:srgbClr val="2435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54296" y="4187952"/>
            <a:ext cx="3200400" cy="411480"/>
          </a:xfrm>
          <a:prstGeom prst="rect">
            <a:avLst/>
          </a:prstGeom>
          <a:noFill/>
        </p:spPr>
        <p:txBody>
          <a:bodyPr wrap="square" lIns="13716" rIns="13716" tIns="0" bIns="0">
            <a:spAutoFit/>
          </a:bodyPr>
          <a:lstStyle/>
          <a:p>
            <a:pPr>
              <a:spcAft>
                <a:spcPts val="800"/>
              </a:spcAft>
              <a:defRPr sz="2200" b="1">
                <a:solidFill>
                  <a:srgbClr val="EDF4FF"/>
                </a:solidFill>
                <a:latin typeface="DejaVu Sans"/>
              </a:defRPr>
            </a:pPr>
            <a:r>
              <a:t>Abhishek</a:t>
            </a:r>
          </a:p>
        </p:txBody>
      </p:sp>
      <p:sp>
        <p:nvSpPr>
          <p:cNvPr id="19" name="Rounded Rectangle 18"/>
          <p:cNvSpPr/>
          <p:nvPr/>
        </p:nvSpPr>
        <p:spPr>
          <a:xfrm>
            <a:off x="8247888" y="3867912"/>
            <a:ext cx="3602736" cy="1069848"/>
          </a:xfrm>
          <a:prstGeom prst="roundRect">
            <a:avLst>
              <a:gd name="adj" fmla="val 8000"/>
            </a:avLst>
          </a:prstGeom>
          <a:solidFill>
            <a:srgbClr val="111D30"/>
          </a:solidFill>
          <a:ln>
            <a:solidFill>
              <a:srgbClr val="2435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58200" y="4187952"/>
            <a:ext cx="3200400" cy="411480"/>
          </a:xfrm>
          <a:prstGeom prst="rect">
            <a:avLst/>
          </a:prstGeom>
          <a:noFill/>
        </p:spPr>
        <p:txBody>
          <a:bodyPr wrap="square" lIns="13716" rIns="13716" tIns="0" bIns="0">
            <a:spAutoFit/>
          </a:bodyPr>
          <a:lstStyle/>
          <a:p>
            <a:pPr>
              <a:spcAft>
                <a:spcPts val="800"/>
              </a:spcAft>
              <a:defRPr sz="2200" b="1">
                <a:solidFill>
                  <a:srgbClr val="EDF4FF"/>
                </a:solidFill>
                <a:latin typeface="DejaVu Sans"/>
              </a:defRPr>
            </a:pPr>
            <a:r>
              <a:t>Tapis Samaiya</a:t>
            </a:r>
          </a:p>
        </p:txBody>
      </p:sp>
      <p:sp>
        <p:nvSpPr>
          <p:cNvPr id="21" name="TextBox 20"/>
          <p:cNvSpPr txBox="1"/>
          <p:nvPr/>
        </p:nvSpPr>
        <p:spPr>
          <a:xfrm>
            <a:off x="594360" y="5980176"/>
            <a:ext cx="10972800" cy="320040"/>
          </a:xfrm>
          <a:prstGeom prst="rect">
            <a:avLst/>
          </a:prstGeom>
          <a:noFill/>
        </p:spPr>
        <p:txBody>
          <a:bodyPr wrap="square" lIns="13716" rIns="13716" tIns="0" bIns="0">
            <a:spAutoFit/>
          </a:bodyPr>
          <a:lstStyle/>
          <a:p>
            <a:pPr>
              <a:spcAft>
                <a:spcPts val="800"/>
              </a:spcAft>
              <a:defRPr sz="1100" b="0">
                <a:solidFill>
                  <a:srgbClr val="A4B6CD"/>
                </a:solidFill>
                <a:latin typeface="DejaVu Sans"/>
              </a:defRPr>
            </a:pPr>
            <a:r>
              <a:t>RL Environment Hackathon  /  Games &amp; World Simulations  /  Team Kasukabe Defence Force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90F1B"/>
        </a:solidFill>
        <a:effectLst/>
      </p:bgPr>
    </p:bg>
    <p:spTree>
      <p:nvGrpSpPr>
        <p:cNvPr id="1" name=""/>
        <p:cNvGrpSpPr/>
        <p:nvPr/>
      </p:nvGrpSpPr>
      <p:grpSpPr/>
      <p:sp>
        <p:nvSpPr>
          <p:cNvPr id="2" name="Rectangle 1"/>
          <p:cNvSpPr/>
          <p:nvPr/>
        </p:nvSpPr>
        <p:spPr>
          <a:xfrm>
            <a:off x="758952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68680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78408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88136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38912" y="347472"/>
            <a:ext cx="91440" cy="146304"/>
          </a:xfrm>
          <a:prstGeom prst="rect">
            <a:avLst/>
          </a:prstGeom>
          <a:solidFill>
            <a:srgbClr val="66E6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8" y="301752"/>
            <a:ext cx="10058400" cy="219456"/>
          </a:xfrm>
          <a:prstGeom prst="rect">
            <a:avLst/>
          </a:prstGeom>
          <a:noFill/>
        </p:spPr>
        <p:txBody>
          <a:bodyPr wrap="square" lIns="13716" rIns="13716" tIns="0" bIns="0">
            <a:spAutoFit/>
          </a:bodyPr>
          <a:lstStyle/>
          <a:p>
            <a:pPr>
              <a:spcAft>
                <a:spcPts val="800"/>
              </a:spcAft>
              <a:defRPr sz="1000" b="1">
                <a:solidFill>
                  <a:srgbClr val="66E6CD"/>
                </a:solidFill>
                <a:latin typeface="DejaVu Sans"/>
              </a:defRPr>
            </a:pPr>
            <a:r>
              <a:t>MERCY HOUSE  /  EVIDENCE-GROUNDED AGENT EVALUATION</a:t>
            </a:r>
          </a:p>
        </p:txBody>
      </p:sp>
      <p:sp>
        <p:nvSpPr>
          <p:cNvPr id="8" name="TextBox 7"/>
          <p:cNvSpPr txBox="1"/>
          <p:nvPr/>
        </p:nvSpPr>
        <p:spPr>
          <a:xfrm>
            <a:off x="548640" y="859536"/>
            <a:ext cx="11064240" cy="822960"/>
          </a:xfrm>
          <a:prstGeom prst="rect">
            <a:avLst/>
          </a:prstGeom>
          <a:noFill/>
        </p:spPr>
        <p:txBody>
          <a:bodyPr wrap="square" lIns="13716" rIns="13716" tIns="0" bIns="0">
            <a:spAutoFit/>
          </a:bodyPr>
          <a:lstStyle/>
          <a:p>
            <a:pPr>
              <a:spcAft>
                <a:spcPts val="800"/>
              </a:spcAft>
              <a:defRPr sz="3100" b="1">
                <a:solidFill>
                  <a:srgbClr val="EDF4FF"/>
                </a:solidFill>
                <a:latin typeface="DejaVu Sans"/>
              </a:defRPr>
            </a:pPr>
            <a:r>
              <a:t>Truth needs a chain of evidence.</a:t>
            </a:r>
          </a:p>
        </p:txBody>
      </p:sp>
      <p:sp>
        <p:nvSpPr>
          <p:cNvPr id="9" name="Rectangle 8"/>
          <p:cNvSpPr/>
          <p:nvPr/>
        </p:nvSpPr>
        <p:spPr>
          <a:xfrm>
            <a:off x="548640" y="6428232"/>
            <a:ext cx="11064240" cy="10972"/>
          </a:xfrm>
          <a:prstGeom prst="rect">
            <a:avLst/>
          </a:prstGeom>
          <a:solidFill>
            <a:srgbClr val="2435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6537960"/>
            <a:ext cx="10332720" cy="201168"/>
          </a:xfrm>
          <a:prstGeom prst="rect">
            <a:avLst/>
          </a:prstGeom>
          <a:noFill/>
        </p:spPr>
        <p:txBody>
          <a:bodyPr wrap="square" lIns="13716" rIns="13716" tIns="0" bIns="0">
            <a:spAutoFit/>
          </a:bodyPr>
          <a:lstStyle/>
          <a:p>
            <a:pPr>
              <a:spcAft>
                <a:spcPts val="800"/>
              </a:spcAft>
              <a:defRPr sz="800" b="0">
                <a:solidFill>
                  <a:srgbClr val="A4B6CD"/>
                </a:solidFill>
                <a:latin typeface="DejaVu Sans"/>
              </a:defRPr>
            </a:pPr>
            <a:r>
              <a:t>KASUKABE DEFENCE FORCE  •  RL ENVIRONMENT HACKATHON</a:t>
            </a:r>
          </a:p>
        </p:txBody>
      </p:sp>
      <p:sp>
        <p:nvSpPr>
          <p:cNvPr id="11" name="TextBox 10"/>
          <p:cNvSpPr txBox="1"/>
          <p:nvPr/>
        </p:nvSpPr>
        <p:spPr>
          <a:xfrm>
            <a:off x="10972800" y="6510528"/>
            <a:ext cx="640080" cy="228600"/>
          </a:xfrm>
          <a:prstGeom prst="rect">
            <a:avLst/>
          </a:prstGeom>
          <a:noFill/>
        </p:spPr>
        <p:txBody>
          <a:bodyPr wrap="square" lIns="13716" rIns="13716" tIns="0" bIns="0">
            <a:spAutoFit/>
          </a:bodyPr>
          <a:lstStyle/>
          <a:p>
            <a:pPr>
              <a:spcAft>
                <a:spcPts val="800"/>
              </a:spcAft>
              <a:defRPr sz="900" b="0">
                <a:solidFill>
                  <a:srgbClr val="66E6CD"/>
                </a:solidFill>
                <a:latin typeface="DejaVu Sans"/>
              </a:defRPr>
            </a:pPr>
            <a:r>
              <a:t>02 / 14</a:t>
            </a:r>
          </a:p>
        </p:txBody>
      </p:sp>
      <p:sp>
        <p:nvSpPr>
          <p:cNvPr id="12" name="TextBox 11"/>
          <p:cNvSpPr txBox="1"/>
          <p:nvPr/>
        </p:nvSpPr>
        <p:spPr>
          <a:xfrm>
            <a:off x="594360" y="1874519"/>
            <a:ext cx="5486400" cy="1051560"/>
          </a:xfrm>
          <a:prstGeom prst="rect">
            <a:avLst/>
          </a:prstGeom>
          <a:noFill/>
        </p:spPr>
        <p:txBody>
          <a:bodyPr wrap="square" lIns="13716" rIns="13716" tIns="0" bIns="0">
            <a:spAutoFit/>
          </a:bodyPr>
          <a:lstStyle/>
          <a:p>
            <a:pPr>
              <a:spcAft>
                <a:spcPts val="800"/>
              </a:spcAft>
              <a:defRPr sz="2900" b="1">
                <a:solidFill>
                  <a:srgbClr val="66E6CD"/>
                </a:solidFill>
                <a:latin typeface="DejaVu Sans"/>
              </a:defRPr>
            </a:pPr>
            <a:r>
              <a:t>An investigation world for language agents.</a:t>
            </a:r>
          </a:p>
        </p:txBody>
      </p:sp>
      <p:sp>
        <p:nvSpPr>
          <p:cNvPr id="13" name="TextBox 12"/>
          <p:cNvSpPr txBox="1"/>
          <p:nvPr/>
        </p:nvSpPr>
        <p:spPr>
          <a:xfrm>
            <a:off x="594360" y="3072384"/>
            <a:ext cx="5212080" cy="1051560"/>
          </a:xfrm>
          <a:prstGeom prst="rect">
            <a:avLst/>
          </a:prstGeom>
          <a:noFill/>
        </p:spPr>
        <p:txBody>
          <a:bodyPr wrap="square" lIns="13716" rIns="13716" tIns="0" bIns="0">
            <a:spAutoFit/>
          </a:bodyPr>
          <a:lstStyle/>
          <a:p>
            <a:pPr>
              <a:spcAft>
                <a:spcPts val="800"/>
              </a:spcAft>
              <a:defRPr sz="2000" b="0">
                <a:solidFill>
                  <a:srgbClr val="EDF4FF"/>
                </a:solidFill>
                <a:latin typeface="DejaVu Sans"/>
              </a:defRPr>
            </a:pPr>
            <a:r>
              <a:t>A snowbound town in 1900. Private lives, limited witnesses and evidence that can point at the wrong person.</a:t>
            </a:r>
          </a:p>
        </p:txBody>
      </p:sp>
      <p:pic>
        <p:nvPicPr>
          <p:cNvPr id="14" name="Picture 13" descr="ui-interview.png"/>
          <p:cNvPicPr>
            <a:picLocks noChangeAspect="1"/>
          </p:cNvPicPr>
          <p:nvPr/>
        </p:nvPicPr>
        <p:blipFill>
          <a:blip r:embed="rId2"/>
          <a:stretch>
            <a:fillRect/>
          </a:stretch>
        </p:blipFill>
        <p:spPr>
          <a:xfrm>
            <a:off x="6321769" y="1874519"/>
            <a:ext cx="5141540" cy="3749039"/>
          </a:xfrm>
          <a:prstGeom prst="rect">
            <a:avLst/>
          </a:prstGeom>
        </p:spPr>
      </p:pic>
      <p:sp>
        <p:nvSpPr>
          <p:cNvPr id="15" name="TextBox 14"/>
          <p:cNvSpPr txBox="1"/>
          <p:nvPr/>
        </p:nvSpPr>
        <p:spPr>
          <a:xfrm>
            <a:off x="6355080" y="5660136"/>
            <a:ext cx="5120640" cy="228600"/>
          </a:xfrm>
          <a:prstGeom prst="rect">
            <a:avLst/>
          </a:prstGeom>
          <a:noFill/>
        </p:spPr>
        <p:txBody>
          <a:bodyPr wrap="square" lIns="13716" rIns="13716" tIns="0" bIns="0">
            <a:spAutoFit/>
          </a:bodyPr>
          <a:lstStyle/>
          <a:p>
            <a:pPr>
              <a:spcAft>
                <a:spcPts val="800"/>
              </a:spcAft>
              <a:defRPr sz="1000" b="0">
                <a:solidFill>
                  <a:srgbClr val="A4B6CD"/>
                </a:solidFill>
                <a:latin typeface="DejaVu Sans"/>
              </a:defRPr>
            </a:pPr>
            <a:r>
              <a:t>Shown: scripted inquest reference, not a live solve.</a:t>
            </a:r>
          </a:p>
        </p:txBody>
      </p:sp>
      <p:sp>
        <p:nvSpPr>
          <p:cNvPr id="16" name="Rounded Rectangle 15"/>
          <p:cNvSpPr/>
          <p:nvPr/>
        </p:nvSpPr>
        <p:spPr>
          <a:xfrm>
            <a:off x="594360" y="4709160"/>
            <a:ext cx="1554480" cy="1024128"/>
          </a:xfrm>
          <a:prstGeom prst="roundRect">
            <a:avLst>
              <a:gd name="adj" fmla="val 8000"/>
            </a:avLst>
          </a:prstGeom>
          <a:solidFill>
            <a:srgbClr val="111D30"/>
          </a:solidFill>
          <a:ln>
            <a:solidFill>
              <a:srgbClr val="2435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0664" y="4791456"/>
            <a:ext cx="1188720" cy="438912"/>
          </a:xfrm>
          <a:prstGeom prst="rect">
            <a:avLst/>
          </a:prstGeom>
          <a:noFill/>
        </p:spPr>
        <p:txBody>
          <a:bodyPr wrap="square" lIns="13716" rIns="13716" tIns="0" bIns="0">
            <a:spAutoFit/>
          </a:bodyPr>
          <a:lstStyle/>
          <a:p>
            <a:pPr>
              <a:spcAft>
                <a:spcPts val="800"/>
              </a:spcAft>
              <a:defRPr sz="2800" b="1">
                <a:solidFill>
                  <a:srgbClr val="66E6CD"/>
                </a:solidFill>
                <a:latin typeface="DejaVu Sans"/>
              </a:defRPr>
            </a:pPr>
            <a:r>
              <a:t>8</a:t>
            </a:r>
          </a:p>
        </p:txBody>
      </p:sp>
      <p:sp>
        <p:nvSpPr>
          <p:cNvPr id="18" name="TextBox 17"/>
          <p:cNvSpPr txBox="1"/>
          <p:nvPr/>
        </p:nvSpPr>
        <p:spPr>
          <a:xfrm>
            <a:off x="740664" y="5358384"/>
            <a:ext cx="1280160" cy="274320"/>
          </a:xfrm>
          <a:prstGeom prst="rect">
            <a:avLst/>
          </a:prstGeom>
          <a:noFill/>
        </p:spPr>
        <p:txBody>
          <a:bodyPr wrap="square" lIns="13716" rIns="13716" tIns="0" bIns="0">
            <a:spAutoFit/>
          </a:bodyPr>
          <a:lstStyle/>
          <a:p>
            <a:pPr>
              <a:spcAft>
                <a:spcPts val="800"/>
              </a:spcAft>
              <a:defRPr sz="800" b="0">
                <a:solidFill>
                  <a:srgbClr val="A4B6CD"/>
                </a:solidFill>
                <a:latin typeface="DejaVu Sans"/>
              </a:defRPr>
            </a:pPr>
            <a:r>
              <a:t>PUBLIC TASKS</a:t>
            </a:r>
          </a:p>
        </p:txBody>
      </p:sp>
      <p:sp>
        <p:nvSpPr>
          <p:cNvPr id="19" name="Rounded Rectangle 18"/>
          <p:cNvSpPr/>
          <p:nvPr/>
        </p:nvSpPr>
        <p:spPr>
          <a:xfrm>
            <a:off x="2377440" y="4709160"/>
            <a:ext cx="1554480" cy="1024128"/>
          </a:xfrm>
          <a:prstGeom prst="roundRect">
            <a:avLst>
              <a:gd name="adj" fmla="val 8000"/>
            </a:avLst>
          </a:prstGeom>
          <a:solidFill>
            <a:srgbClr val="111D30"/>
          </a:solidFill>
          <a:ln>
            <a:solidFill>
              <a:srgbClr val="2435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23744" y="4791456"/>
            <a:ext cx="1188720" cy="438912"/>
          </a:xfrm>
          <a:prstGeom prst="rect">
            <a:avLst/>
          </a:prstGeom>
          <a:noFill/>
        </p:spPr>
        <p:txBody>
          <a:bodyPr wrap="square" lIns="13716" rIns="13716" tIns="0" bIns="0">
            <a:spAutoFit/>
          </a:bodyPr>
          <a:lstStyle/>
          <a:p>
            <a:pPr>
              <a:spcAft>
                <a:spcPts val="800"/>
              </a:spcAft>
              <a:defRPr sz="2800" b="1">
                <a:solidFill>
                  <a:srgbClr val="66E6CD"/>
                </a:solidFill>
                <a:latin typeface="DejaVu Sans"/>
              </a:defRPr>
            </a:pPr>
            <a:r>
              <a:t>4</a:t>
            </a:r>
          </a:p>
        </p:txBody>
      </p:sp>
      <p:sp>
        <p:nvSpPr>
          <p:cNvPr id="21" name="TextBox 20"/>
          <p:cNvSpPr txBox="1"/>
          <p:nvPr/>
        </p:nvSpPr>
        <p:spPr>
          <a:xfrm>
            <a:off x="2523744" y="5358384"/>
            <a:ext cx="1280160" cy="274320"/>
          </a:xfrm>
          <a:prstGeom prst="rect">
            <a:avLst/>
          </a:prstGeom>
          <a:noFill/>
        </p:spPr>
        <p:txBody>
          <a:bodyPr wrap="square" lIns="13716" rIns="13716" tIns="0" bIns="0">
            <a:spAutoFit/>
          </a:bodyPr>
          <a:lstStyle/>
          <a:p>
            <a:pPr>
              <a:spcAft>
                <a:spcPts val="800"/>
              </a:spcAft>
              <a:defRPr sz="800" b="0">
                <a:solidFill>
                  <a:srgbClr val="A4B6CD"/>
                </a:solidFill>
                <a:latin typeface="DejaVu Sans"/>
              </a:defRPr>
            </a:pPr>
            <a:r>
              <a:t>CASE FAMILIES</a:t>
            </a:r>
          </a:p>
        </p:txBody>
      </p:sp>
      <p:sp>
        <p:nvSpPr>
          <p:cNvPr id="22" name="Rounded Rectangle 21"/>
          <p:cNvSpPr/>
          <p:nvPr/>
        </p:nvSpPr>
        <p:spPr>
          <a:xfrm>
            <a:off x="4160520" y="4709160"/>
            <a:ext cx="1554480" cy="1024128"/>
          </a:xfrm>
          <a:prstGeom prst="roundRect">
            <a:avLst>
              <a:gd name="adj" fmla="val 8000"/>
            </a:avLst>
          </a:prstGeom>
          <a:solidFill>
            <a:srgbClr val="111D30"/>
          </a:solidFill>
          <a:ln>
            <a:solidFill>
              <a:srgbClr val="2435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06824" y="4791456"/>
            <a:ext cx="1188720" cy="438912"/>
          </a:xfrm>
          <a:prstGeom prst="rect">
            <a:avLst/>
          </a:prstGeom>
          <a:noFill/>
        </p:spPr>
        <p:txBody>
          <a:bodyPr wrap="square" lIns="13716" rIns="13716" tIns="0" bIns="0">
            <a:spAutoFit/>
          </a:bodyPr>
          <a:lstStyle/>
          <a:p>
            <a:pPr>
              <a:spcAft>
                <a:spcPts val="800"/>
              </a:spcAft>
              <a:defRPr sz="2800" b="1">
                <a:solidFill>
                  <a:srgbClr val="66E6CD"/>
                </a:solidFill>
                <a:latin typeface="DejaVu Sans"/>
              </a:defRPr>
            </a:pPr>
            <a:r>
              <a:t>3</a:t>
            </a:r>
          </a:p>
        </p:txBody>
      </p:sp>
      <p:sp>
        <p:nvSpPr>
          <p:cNvPr id="24" name="TextBox 23"/>
          <p:cNvSpPr txBox="1"/>
          <p:nvPr/>
        </p:nvSpPr>
        <p:spPr>
          <a:xfrm>
            <a:off x="4306824" y="5358384"/>
            <a:ext cx="1280160" cy="274320"/>
          </a:xfrm>
          <a:prstGeom prst="rect">
            <a:avLst/>
          </a:prstGeom>
          <a:noFill/>
        </p:spPr>
        <p:txBody>
          <a:bodyPr wrap="square" lIns="13716" rIns="13716" tIns="0" bIns="0">
            <a:spAutoFit/>
          </a:bodyPr>
          <a:lstStyle/>
          <a:p>
            <a:pPr>
              <a:spcAft>
                <a:spcPts val="800"/>
              </a:spcAft>
              <a:defRPr sz="800" b="0">
                <a:solidFill>
                  <a:srgbClr val="A4B6CD"/>
                </a:solidFill>
                <a:latin typeface="DejaVu Sans"/>
              </a:defRPr>
            </a:pPr>
            <a:r>
              <a:t>DESIGNED LEVELS</a:t>
            </a:r>
          </a:p>
        </p:txBody>
      </p:sp>
      <p:sp>
        <p:nvSpPr>
          <p:cNvPr id="25" name="TextBox 24"/>
          <p:cNvSpPr txBox="1"/>
          <p:nvPr/>
        </p:nvSpPr>
        <p:spPr>
          <a:xfrm>
            <a:off x="594360" y="5980176"/>
            <a:ext cx="10972800" cy="320040"/>
          </a:xfrm>
          <a:prstGeom prst="rect">
            <a:avLst/>
          </a:prstGeom>
          <a:noFill/>
        </p:spPr>
        <p:txBody>
          <a:bodyPr wrap="square" lIns="13716" rIns="13716" tIns="0" bIns="0">
            <a:spAutoFit/>
          </a:bodyPr>
          <a:lstStyle/>
          <a:p>
            <a:pPr>
              <a:spcAft>
                <a:spcPts val="800"/>
              </a:spcAft>
              <a:defRPr sz="1100" b="0">
                <a:solidFill>
                  <a:srgbClr val="A4B6CD"/>
                </a:solidFill>
                <a:latin typeface="DejaVu Sans"/>
              </a:defRPr>
            </a:pPr>
            <a:r>
              <a:t>The competition deliverable is the environment. Judges supply their detective model.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90F1B"/>
        </a:solidFill>
        <a:effectLst/>
      </p:bgPr>
    </p:bg>
    <p:spTree>
      <p:nvGrpSpPr>
        <p:cNvPr id="1" name=""/>
        <p:cNvGrpSpPr/>
        <p:nvPr/>
      </p:nvGrpSpPr>
      <p:grpSpPr/>
      <p:sp>
        <p:nvSpPr>
          <p:cNvPr id="2" name="Rectangle 1"/>
          <p:cNvSpPr/>
          <p:nvPr/>
        </p:nvSpPr>
        <p:spPr>
          <a:xfrm>
            <a:off x="758952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68680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78408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88136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38912" y="347472"/>
            <a:ext cx="91440" cy="146304"/>
          </a:xfrm>
          <a:prstGeom prst="rect">
            <a:avLst/>
          </a:prstGeom>
          <a:solidFill>
            <a:srgbClr val="66E6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8" y="301752"/>
            <a:ext cx="10058400" cy="219456"/>
          </a:xfrm>
          <a:prstGeom prst="rect">
            <a:avLst/>
          </a:prstGeom>
          <a:noFill/>
        </p:spPr>
        <p:txBody>
          <a:bodyPr wrap="square" lIns="13716" rIns="13716" tIns="0" bIns="0">
            <a:spAutoFit/>
          </a:bodyPr>
          <a:lstStyle/>
          <a:p>
            <a:pPr>
              <a:spcAft>
                <a:spcPts val="800"/>
              </a:spcAft>
              <a:defRPr sz="1000" b="1">
                <a:solidFill>
                  <a:srgbClr val="66E6CD"/>
                </a:solidFill>
                <a:latin typeface="DejaVu Sans"/>
              </a:defRPr>
            </a:pPr>
            <a:r>
              <a:t>MERCY HOUSE  /  WHAT THE ENVIRONMENT ASKS AN AGENT TO DO</a:t>
            </a:r>
          </a:p>
        </p:txBody>
      </p:sp>
      <p:sp>
        <p:nvSpPr>
          <p:cNvPr id="8" name="TextBox 7"/>
          <p:cNvSpPr txBox="1"/>
          <p:nvPr/>
        </p:nvSpPr>
        <p:spPr>
          <a:xfrm>
            <a:off x="548640" y="859536"/>
            <a:ext cx="11064240" cy="822960"/>
          </a:xfrm>
          <a:prstGeom prst="rect">
            <a:avLst/>
          </a:prstGeom>
          <a:noFill/>
        </p:spPr>
        <p:txBody>
          <a:bodyPr wrap="square" lIns="13716" rIns="13716" tIns="0" bIns="0">
            <a:spAutoFit/>
          </a:bodyPr>
          <a:lstStyle/>
          <a:p>
            <a:pPr>
              <a:spcAft>
                <a:spcPts val="800"/>
              </a:spcAft>
              <a:defRPr sz="3100" b="1">
                <a:solidFill>
                  <a:srgbClr val="EDF4FF"/>
                </a:solidFill>
                <a:latin typeface="DejaVu Sans"/>
              </a:defRPr>
            </a:pPr>
            <a:r>
              <a:t>The agent controls the investigation.</a:t>
            </a:r>
          </a:p>
        </p:txBody>
      </p:sp>
      <p:sp>
        <p:nvSpPr>
          <p:cNvPr id="9" name="TextBox 8"/>
          <p:cNvSpPr txBox="1"/>
          <p:nvPr/>
        </p:nvSpPr>
        <p:spPr>
          <a:xfrm>
            <a:off x="566928" y="1691640"/>
            <a:ext cx="10972800" cy="594360"/>
          </a:xfrm>
          <a:prstGeom prst="rect">
            <a:avLst/>
          </a:prstGeom>
          <a:noFill/>
        </p:spPr>
        <p:txBody>
          <a:bodyPr wrap="square" lIns="13716" rIns="13716" tIns="0" bIns="0">
            <a:spAutoFit/>
          </a:bodyPr>
          <a:lstStyle/>
          <a:p>
            <a:pPr>
              <a:spcAft>
                <a:spcPts val="800"/>
              </a:spcAft>
              <a:defRPr sz="1500" b="0">
                <a:solidFill>
                  <a:srgbClr val="A4B6CD"/>
                </a:solidFill>
                <a:latin typeface="DejaVu Sans"/>
              </a:defRPr>
            </a:pPr>
            <a:r>
              <a:t>It starts with its own biography and the local scene. The answer and hidden event journal remain private.</a:t>
            </a:r>
          </a:p>
        </p:txBody>
      </p:sp>
      <p:sp>
        <p:nvSpPr>
          <p:cNvPr id="10" name="Rectangle 9"/>
          <p:cNvSpPr/>
          <p:nvPr/>
        </p:nvSpPr>
        <p:spPr>
          <a:xfrm>
            <a:off x="548640" y="6428232"/>
            <a:ext cx="11064240" cy="10972"/>
          </a:xfrm>
          <a:prstGeom prst="rect">
            <a:avLst/>
          </a:prstGeom>
          <a:solidFill>
            <a:srgbClr val="2435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6537960"/>
            <a:ext cx="10332720" cy="201168"/>
          </a:xfrm>
          <a:prstGeom prst="rect">
            <a:avLst/>
          </a:prstGeom>
          <a:noFill/>
        </p:spPr>
        <p:txBody>
          <a:bodyPr wrap="square" lIns="13716" rIns="13716" tIns="0" bIns="0">
            <a:spAutoFit/>
          </a:bodyPr>
          <a:lstStyle/>
          <a:p>
            <a:pPr>
              <a:spcAft>
                <a:spcPts val="800"/>
              </a:spcAft>
              <a:defRPr sz="800" b="0">
                <a:solidFill>
                  <a:srgbClr val="A4B6CD"/>
                </a:solidFill>
                <a:latin typeface="DejaVu Sans"/>
              </a:defRPr>
            </a:pPr>
            <a:r>
              <a:t>KASUKABE DEFENCE FORCE  •  RL ENVIRONMENT HACKATHON</a:t>
            </a:r>
          </a:p>
        </p:txBody>
      </p:sp>
      <p:sp>
        <p:nvSpPr>
          <p:cNvPr id="12" name="TextBox 11"/>
          <p:cNvSpPr txBox="1"/>
          <p:nvPr/>
        </p:nvSpPr>
        <p:spPr>
          <a:xfrm>
            <a:off x="10972800" y="6510528"/>
            <a:ext cx="640080" cy="228600"/>
          </a:xfrm>
          <a:prstGeom prst="rect">
            <a:avLst/>
          </a:prstGeom>
          <a:noFill/>
        </p:spPr>
        <p:txBody>
          <a:bodyPr wrap="square" lIns="13716" rIns="13716" tIns="0" bIns="0">
            <a:spAutoFit/>
          </a:bodyPr>
          <a:lstStyle/>
          <a:p>
            <a:pPr>
              <a:spcAft>
                <a:spcPts val="800"/>
              </a:spcAft>
              <a:defRPr sz="900" b="0">
                <a:solidFill>
                  <a:srgbClr val="66E6CD"/>
                </a:solidFill>
                <a:latin typeface="DejaVu Sans"/>
              </a:defRPr>
            </a:pPr>
            <a:r>
              <a:t>03 / 14</a:t>
            </a:r>
          </a:p>
        </p:txBody>
      </p:sp>
      <p:sp>
        <p:nvSpPr>
          <p:cNvPr id="13" name="Rounded Rectangle 12"/>
          <p:cNvSpPr/>
          <p:nvPr/>
        </p:nvSpPr>
        <p:spPr>
          <a:xfrm>
            <a:off x="594360" y="2468880"/>
            <a:ext cx="2651760" cy="2331720"/>
          </a:xfrm>
          <a:prstGeom prst="roundRect">
            <a:avLst>
              <a:gd name="adj" fmla="val 8000"/>
            </a:avLst>
          </a:prstGeom>
          <a:solidFill>
            <a:srgbClr val="111D30"/>
          </a:solidFill>
          <a:ln>
            <a:solidFill>
              <a:srgbClr val="2435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58952" y="2651760"/>
            <a:ext cx="45720" cy="310896"/>
          </a:xfrm>
          <a:prstGeom prst="rect">
            <a:avLst/>
          </a:prstGeom>
          <a:solidFill>
            <a:srgbClr val="66E6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3544" y="2679192"/>
            <a:ext cx="2148839" cy="411480"/>
          </a:xfrm>
          <a:prstGeom prst="rect">
            <a:avLst/>
          </a:prstGeom>
          <a:noFill/>
        </p:spPr>
        <p:txBody>
          <a:bodyPr wrap="square" lIns="13716" rIns="13716" tIns="0" bIns="0">
            <a:spAutoFit/>
          </a:bodyPr>
          <a:lstStyle/>
          <a:p>
            <a:pPr>
              <a:spcAft>
                <a:spcPts val="800"/>
              </a:spcAft>
              <a:defRPr sz="1600" b="1">
                <a:solidFill>
                  <a:srgbClr val="66E6CD"/>
                </a:solidFill>
                <a:latin typeface="DejaVu Sans"/>
              </a:defRPr>
            </a:pPr>
            <a:r>
              <a:t>01  EXPLORE</a:t>
            </a:r>
          </a:p>
        </p:txBody>
      </p:sp>
      <p:sp>
        <p:nvSpPr>
          <p:cNvPr id="16" name="TextBox 15"/>
          <p:cNvSpPr txBox="1"/>
          <p:nvPr/>
        </p:nvSpPr>
        <p:spPr>
          <a:xfrm>
            <a:off x="804672" y="3310128"/>
            <a:ext cx="2231136" cy="1371599"/>
          </a:xfrm>
          <a:prstGeom prst="rect">
            <a:avLst/>
          </a:prstGeom>
          <a:noFill/>
        </p:spPr>
        <p:txBody>
          <a:bodyPr wrap="square" lIns="13716" rIns="13716" tIns="0" bIns="0">
            <a:spAutoFit/>
          </a:bodyPr>
          <a:lstStyle/>
          <a:p>
            <a:pPr>
              <a:spcAft>
                <a:spcPts val="800"/>
              </a:spcAft>
              <a:defRPr sz="1600" b="0">
                <a:solidFill>
                  <a:srgbClr val="EDF4FF"/>
                </a:solidFill>
                <a:latin typeface="DejaVu Sans"/>
              </a:defRPr>
            </a:pPr>
            <a:r>
              <a:t>Choose a place and inspect visible features.</a:t>
            </a:r>
          </a:p>
        </p:txBody>
      </p:sp>
      <p:sp>
        <p:nvSpPr>
          <p:cNvPr id="17" name="Rounded Rectangle 16"/>
          <p:cNvSpPr/>
          <p:nvPr/>
        </p:nvSpPr>
        <p:spPr>
          <a:xfrm>
            <a:off x="3410712" y="2468880"/>
            <a:ext cx="2651760" cy="2331720"/>
          </a:xfrm>
          <a:prstGeom prst="roundRect">
            <a:avLst>
              <a:gd name="adj" fmla="val 8000"/>
            </a:avLst>
          </a:prstGeom>
          <a:solidFill>
            <a:srgbClr val="111D30"/>
          </a:solidFill>
          <a:ln>
            <a:solidFill>
              <a:srgbClr val="2435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75304" y="2651760"/>
            <a:ext cx="45720" cy="310896"/>
          </a:xfrm>
          <a:prstGeom prst="rect">
            <a:avLst/>
          </a:prstGeom>
          <a:solidFill>
            <a:srgbClr val="66E6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39896" y="2679192"/>
            <a:ext cx="2148839" cy="411480"/>
          </a:xfrm>
          <a:prstGeom prst="rect">
            <a:avLst/>
          </a:prstGeom>
          <a:noFill/>
        </p:spPr>
        <p:txBody>
          <a:bodyPr wrap="square" lIns="13716" rIns="13716" tIns="0" bIns="0">
            <a:spAutoFit/>
          </a:bodyPr>
          <a:lstStyle/>
          <a:p>
            <a:pPr>
              <a:spcAft>
                <a:spcPts val="800"/>
              </a:spcAft>
              <a:defRPr sz="1600" b="1">
                <a:solidFill>
                  <a:srgbClr val="66E6CD"/>
                </a:solidFill>
                <a:latin typeface="DejaVu Sans"/>
              </a:defRPr>
            </a:pPr>
            <a:r>
              <a:t>02  INTERVIEW</a:t>
            </a:r>
          </a:p>
        </p:txBody>
      </p:sp>
      <p:sp>
        <p:nvSpPr>
          <p:cNvPr id="20" name="TextBox 19"/>
          <p:cNvSpPr txBox="1"/>
          <p:nvPr/>
        </p:nvSpPr>
        <p:spPr>
          <a:xfrm>
            <a:off x="3621024" y="3310128"/>
            <a:ext cx="2231136" cy="1371599"/>
          </a:xfrm>
          <a:prstGeom prst="rect">
            <a:avLst/>
          </a:prstGeom>
          <a:noFill/>
        </p:spPr>
        <p:txBody>
          <a:bodyPr wrap="square" lIns="13716" rIns="13716" tIns="0" bIns="0">
            <a:spAutoFit/>
          </a:bodyPr>
          <a:lstStyle/>
          <a:p>
            <a:pPr>
              <a:spcAft>
                <a:spcPts val="800"/>
              </a:spcAft>
              <a:defRPr sz="1600" b="0">
                <a:solidFill>
                  <a:srgbClr val="EDF4FF"/>
                </a:solidFill>
                <a:latin typeface="DejaVu Sans"/>
              </a:defRPr>
            </a:pPr>
            <a:r>
              <a:t>Question people; separate experience from hearsay.</a:t>
            </a:r>
          </a:p>
        </p:txBody>
      </p:sp>
      <p:sp>
        <p:nvSpPr>
          <p:cNvPr id="21" name="Rounded Rectangle 20"/>
          <p:cNvSpPr/>
          <p:nvPr/>
        </p:nvSpPr>
        <p:spPr>
          <a:xfrm>
            <a:off x="6227064" y="2468880"/>
            <a:ext cx="2651760" cy="2331720"/>
          </a:xfrm>
          <a:prstGeom prst="roundRect">
            <a:avLst>
              <a:gd name="adj" fmla="val 8000"/>
            </a:avLst>
          </a:prstGeom>
          <a:solidFill>
            <a:srgbClr val="111D30"/>
          </a:solidFill>
          <a:ln>
            <a:solidFill>
              <a:srgbClr val="2435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91656" y="2651760"/>
            <a:ext cx="45720" cy="310896"/>
          </a:xfrm>
          <a:prstGeom prst="rect">
            <a:avLst/>
          </a:prstGeom>
          <a:solidFill>
            <a:srgbClr val="66E6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56248" y="2679192"/>
            <a:ext cx="2148839" cy="411480"/>
          </a:xfrm>
          <a:prstGeom prst="rect">
            <a:avLst/>
          </a:prstGeom>
          <a:noFill/>
        </p:spPr>
        <p:txBody>
          <a:bodyPr wrap="square" lIns="13716" rIns="13716" tIns="0" bIns="0">
            <a:spAutoFit/>
          </a:bodyPr>
          <a:lstStyle/>
          <a:p>
            <a:pPr>
              <a:spcAft>
                <a:spcPts val="800"/>
              </a:spcAft>
              <a:defRPr sz="1600" b="1">
                <a:solidFill>
                  <a:srgbClr val="66E6CD"/>
                </a:solidFill>
                <a:latin typeface="DejaVu Sans"/>
              </a:defRPr>
            </a:pPr>
            <a:r>
              <a:t>03  TEST</a:t>
            </a:r>
          </a:p>
        </p:txBody>
      </p:sp>
      <p:sp>
        <p:nvSpPr>
          <p:cNvPr id="24" name="TextBox 23"/>
          <p:cNvSpPr txBox="1"/>
          <p:nvPr/>
        </p:nvSpPr>
        <p:spPr>
          <a:xfrm>
            <a:off x="6437376" y="3310128"/>
            <a:ext cx="2231136" cy="1371599"/>
          </a:xfrm>
          <a:prstGeom prst="rect">
            <a:avLst/>
          </a:prstGeom>
          <a:noFill/>
        </p:spPr>
        <p:txBody>
          <a:bodyPr wrap="square" lIns="13716" rIns="13716" tIns="0" bIns="0">
            <a:spAutoFit/>
          </a:bodyPr>
          <a:lstStyle/>
          <a:p>
            <a:pPr>
              <a:spcAft>
                <a:spcPts val="800"/>
              </a:spcAft>
              <a:defRPr sz="1600" b="0">
                <a:solidFill>
                  <a:srgbClr val="EDF4FF"/>
                </a:solidFill>
                <a:latin typeface="DejaVu Sans"/>
              </a:defRPr>
            </a:pPr>
            <a:r>
              <a:t>Compare acquired documents and physical traces.</a:t>
            </a:r>
          </a:p>
        </p:txBody>
      </p:sp>
      <p:sp>
        <p:nvSpPr>
          <p:cNvPr id="25" name="Rounded Rectangle 24"/>
          <p:cNvSpPr/>
          <p:nvPr/>
        </p:nvSpPr>
        <p:spPr>
          <a:xfrm>
            <a:off x="9043416" y="2468880"/>
            <a:ext cx="2651760" cy="2331720"/>
          </a:xfrm>
          <a:prstGeom prst="roundRect">
            <a:avLst>
              <a:gd name="adj" fmla="val 8000"/>
            </a:avLst>
          </a:prstGeom>
          <a:solidFill>
            <a:srgbClr val="111D30"/>
          </a:solidFill>
          <a:ln>
            <a:solidFill>
              <a:srgbClr val="2435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208008" y="2651760"/>
            <a:ext cx="45720" cy="310896"/>
          </a:xfrm>
          <a:prstGeom prst="rect">
            <a:avLst/>
          </a:prstGeom>
          <a:solidFill>
            <a:srgbClr val="66E6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72600" y="2679192"/>
            <a:ext cx="2148839" cy="411480"/>
          </a:xfrm>
          <a:prstGeom prst="rect">
            <a:avLst/>
          </a:prstGeom>
          <a:noFill/>
        </p:spPr>
        <p:txBody>
          <a:bodyPr wrap="square" lIns="13716" rIns="13716" tIns="0" bIns="0">
            <a:spAutoFit/>
          </a:bodyPr>
          <a:lstStyle/>
          <a:p>
            <a:pPr>
              <a:spcAft>
                <a:spcPts val="800"/>
              </a:spcAft>
              <a:defRPr sz="1600" b="1">
                <a:solidFill>
                  <a:srgbClr val="66E6CD"/>
                </a:solidFill>
                <a:latin typeface="DejaVu Sans"/>
              </a:defRPr>
            </a:pPr>
            <a:r>
              <a:t>04  REPORT</a:t>
            </a:r>
          </a:p>
        </p:txBody>
      </p:sp>
      <p:sp>
        <p:nvSpPr>
          <p:cNvPr id="28" name="TextBox 27"/>
          <p:cNvSpPr txBox="1"/>
          <p:nvPr/>
        </p:nvSpPr>
        <p:spPr>
          <a:xfrm>
            <a:off x="9253728" y="3310128"/>
            <a:ext cx="2231136" cy="1371599"/>
          </a:xfrm>
          <a:prstGeom prst="rect">
            <a:avLst/>
          </a:prstGeom>
          <a:noFill/>
        </p:spPr>
        <p:txBody>
          <a:bodyPr wrap="square" lIns="13716" rIns="13716" tIns="0" bIns="0">
            <a:spAutoFit/>
          </a:bodyPr>
          <a:lstStyle/>
          <a:p>
            <a:pPr>
              <a:spcAft>
                <a:spcPts val="800"/>
              </a:spcAft>
              <a:defRPr sz="1600" b="0">
                <a:solidFill>
                  <a:srgbClr val="EDF4FF"/>
                </a:solidFill>
                <a:latin typeface="DejaVu Sans"/>
              </a:defRPr>
            </a:pPr>
            <a:r>
              <a:t>Cite sources for each conclusion; retain uncertainty.</a:t>
            </a:r>
          </a:p>
        </p:txBody>
      </p:sp>
      <p:sp>
        <p:nvSpPr>
          <p:cNvPr id="29" name="TextBox 28"/>
          <p:cNvSpPr txBox="1"/>
          <p:nvPr/>
        </p:nvSpPr>
        <p:spPr>
          <a:xfrm>
            <a:off x="658368" y="5166360"/>
            <a:ext cx="10881360" cy="658368"/>
          </a:xfrm>
          <a:prstGeom prst="rect">
            <a:avLst/>
          </a:prstGeom>
          <a:noFill/>
        </p:spPr>
        <p:txBody>
          <a:bodyPr wrap="square" lIns="13716" rIns="13716" tIns="0" bIns="0">
            <a:spAutoFit/>
          </a:bodyPr>
          <a:lstStyle/>
          <a:p>
            <a:pPr>
              <a:spcAft>
                <a:spcPts val="800"/>
              </a:spcAft>
              <a:defRPr sz="1700" b="0">
                <a:solidFill>
                  <a:srgbClr val="A4B6CD"/>
                </a:solidFill>
                <a:latin typeface="DejaVu Sans"/>
              </a:defRPr>
            </a:pPr>
            <a:r>
              <a:t>In the flagship case, physician Mira Sen dies while exposing old institutional records. The detective’s sister, former partner and trusted constable connect him to the inquiry, putting loyalty in conflict with proof.</a:t>
            </a:r>
          </a:p>
        </p:txBody>
      </p:sp>
      <p:sp>
        <p:nvSpPr>
          <p:cNvPr id="30" name="TextBox 29"/>
          <p:cNvSpPr txBox="1"/>
          <p:nvPr/>
        </p:nvSpPr>
        <p:spPr>
          <a:xfrm>
            <a:off x="594360" y="5980176"/>
            <a:ext cx="10972800" cy="320040"/>
          </a:xfrm>
          <a:prstGeom prst="rect">
            <a:avLst/>
          </a:prstGeom>
          <a:noFill/>
        </p:spPr>
        <p:txBody>
          <a:bodyPr wrap="square" lIns="13716" rIns="13716" tIns="0" bIns="0">
            <a:spAutoFit/>
          </a:bodyPr>
          <a:lstStyle/>
          <a:p>
            <a:pPr>
              <a:spcAft>
                <a:spcPts val="800"/>
              </a:spcAft>
              <a:defRPr sz="1100" b="0">
                <a:solidFill>
                  <a:srgbClr val="A4B6CD"/>
                </a:solidFill>
                <a:latin typeface="DejaVu Sans"/>
              </a:defRPr>
            </a:pPr>
            <a:r>
              <a:t>Eight task scopes across four causal families; difficulty labels describe design complexity, not measured success bands.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90F1B"/>
        </a:solidFill>
        <a:effectLst/>
      </p:bgPr>
    </p:bg>
    <p:spTree>
      <p:nvGrpSpPr>
        <p:cNvPr id="1" name=""/>
        <p:cNvGrpSpPr/>
        <p:nvPr/>
      </p:nvGrpSpPr>
      <p:grpSpPr/>
      <p:sp>
        <p:nvSpPr>
          <p:cNvPr id="2" name="Rectangle 1"/>
          <p:cNvSpPr/>
          <p:nvPr/>
        </p:nvSpPr>
        <p:spPr>
          <a:xfrm>
            <a:off x="758952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68680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78408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88136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38912" y="347472"/>
            <a:ext cx="91440" cy="146304"/>
          </a:xfrm>
          <a:prstGeom prst="rect">
            <a:avLst/>
          </a:prstGeom>
          <a:solidFill>
            <a:srgbClr val="66E6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8" y="301752"/>
            <a:ext cx="10058400" cy="219456"/>
          </a:xfrm>
          <a:prstGeom prst="rect">
            <a:avLst/>
          </a:prstGeom>
          <a:noFill/>
        </p:spPr>
        <p:txBody>
          <a:bodyPr wrap="square" lIns="13716" rIns="13716" tIns="0" bIns="0">
            <a:spAutoFit/>
          </a:bodyPr>
          <a:lstStyle/>
          <a:p>
            <a:pPr>
              <a:spcAft>
                <a:spcPts val="800"/>
              </a:spcAft>
              <a:defRPr sz="1000" b="1">
                <a:solidFill>
                  <a:srgbClr val="66E6CD"/>
                </a:solidFill>
                <a:latin typeface="DejaVu Sans"/>
              </a:defRPr>
            </a:pPr>
            <a:r>
              <a:t>MERCY HOUSE  /  WORLD STATE AND CAUSAL TRACES</a:t>
            </a:r>
          </a:p>
        </p:txBody>
      </p:sp>
      <p:sp>
        <p:nvSpPr>
          <p:cNvPr id="8" name="TextBox 7"/>
          <p:cNvSpPr txBox="1"/>
          <p:nvPr/>
        </p:nvSpPr>
        <p:spPr>
          <a:xfrm>
            <a:off x="548640" y="859536"/>
            <a:ext cx="11064240" cy="822960"/>
          </a:xfrm>
          <a:prstGeom prst="rect">
            <a:avLst/>
          </a:prstGeom>
          <a:noFill/>
        </p:spPr>
        <p:txBody>
          <a:bodyPr wrap="square" lIns="13716" rIns="13716" tIns="0" bIns="0">
            <a:spAutoFit/>
          </a:bodyPr>
          <a:lstStyle/>
          <a:p>
            <a:pPr>
              <a:spcAft>
                <a:spcPts val="800"/>
              </a:spcAft>
              <a:defRPr sz="3100" b="1">
                <a:solidFill>
                  <a:srgbClr val="EDF4FF"/>
                </a:solidFill>
                <a:latin typeface="DejaVu Sans"/>
              </a:defRPr>
            </a:pPr>
            <a:r>
              <a:t>The incident executes before arrival.</a:t>
            </a:r>
          </a:p>
        </p:txBody>
      </p:sp>
      <p:sp>
        <p:nvSpPr>
          <p:cNvPr id="9" name="TextBox 8"/>
          <p:cNvSpPr txBox="1"/>
          <p:nvPr/>
        </p:nvSpPr>
        <p:spPr>
          <a:xfrm>
            <a:off x="566928" y="1691640"/>
            <a:ext cx="10972800" cy="594360"/>
          </a:xfrm>
          <a:prstGeom prst="rect">
            <a:avLst/>
          </a:prstGeom>
          <a:noFill/>
        </p:spPr>
        <p:txBody>
          <a:bodyPr wrap="square" lIns="13716" rIns="13716" tIns="0" bIns="0">
            <a:spAutoFit/>
          </a:bodyPr>
          <a:lstStyle/>
          <a:p>
            <a:pPr>
              <a:spcAft>
                <a:spcPts val="800"/>
              </a:spcAft>
              <a:defRPr sz="1500" b="0">
                <a:solidFill>
                  <a:srgbClr val="A4B6CD"/>
                </a:solidFill>
                <a:latin typeface="DejaVu Sans"/>
              </a:defRPr>
            </a:pPr>
            <a:r>
              <a:t>Validated transitions produce the injury, objects and local recollections that the detective can investigate.</a:t>
            </a:r>
          </a:p>
        </p:txBody>
      </p:sp>
      <p:sp>
        <p:nvSpPr>
          <p:cNvPr id="10" name="Rectangle 9"/>
          <p:cNvSpPr/>
          <p:nvPr/>
        </p:nvSpPr>
        <p:spPr>
          <a:xfrm>
            <a:off x="548640" y="6428232"/>
            <a:ext cx="11064240" cy="10972"/>
          </a:xfrm>
          <a:prstGeom prst="rect">
            <a:avLst/>
          </a:prstGeom>
          <a:solidFill>
            <a:srgbClr val="2435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6537960"/>
            <a:ext cx="10332720" cy="201168"/>
          </a:xfrm>
          <a:prstGeom prst="rect">
            <a:avLst/>
          </a:prstGeom>
          <a:noFill/>
        </p:spPr>
        <p:txBody>
          <a:bodyPr wrap="square" lIns="13716" rIns="13716" tIns="0" bIns="0">
            <a:spAutoFit/>
          </a:bodyPr>
          <a:lstStyle/>
          <a:p>
            <a:pPr>
              <a:spcAft>
                <a:spcPts val="800"/>
              </a:spcAft>
              <a:defRPr sz="800" b="0">
                <a:solidFill>
                  <a:srgbClr val="A4B6CD"/>
                </a:solidFill>
                <a:latin typeface="DejaVu Sans"/>
              </a:defRPr>
            </a:pPr>
            <a:r>
              <a:t>KASUKABE DEFENCE FORCE  •  RL ENVIRONMENT HACKATHON</a:t>
            </a:r>
          </a:p>
        </p:txBody>
      </p:sp>
      <p:sp>
        <p:nvSpPr>
          <p:cNvPr id="12" name="TextBox 11"/>
          <p:cNvSpPr txBox="1"/>
          <p:nvPr/>
        </p:nvSpPr>
        <p:spPr>
          <a:xfrm>
            <a:off x="10972800" y="6510528"/>
            <a:ext cx="640080" cy="228600"/>
          </a:xfrm>
          <a:prstGeom prst="rect">
            <a:avLst/>
          </a:prstGeom>
          <a:noFill/>
        </p:spPr>
        <p:txBody>
          <a:bodyPr wrap="square" lIns="13716" rIns="13716" tIns="0" bIns="0">
            <a:spAutoFit/>
          </a:bodyPr>
          <a:lstStyle/>
          <a:p>
            <a:pPr>
              <a:spcAft>
                <a:spcPts val="800"/>
              </a:spcAft>
              <a:defRPr sz="900" b="0">
                <a:solidFill>
                  <a:srgbClr val="66E6CD"/>
                </a:solidFill>
                <a:latin typeface="DejaVu Sans"/>
              </a:defRPr>
            </a:pPr>
            <a:r>
              <a:t>04 / 14</a:t>
            </a:r>
          </a:p>
        </p:txBody>
      </p:sp>
      <p:sp>
        <p:nvSpPr>
          <p:cNvPr id="13" name="Rounded Rectangle 12"/>
          <p:cNvSpPr/>
          <p:nvPr/>
        </p:nvSpPr>
        <p:spPr>
          <a:xfrm>
            <a:off x="594360" y="2514600"/>
            <a:ext cx="2651760" cy="1874519"/>
          </a:xfrm>
          <a:prstGeom prst="roundRect">
            <a:avLst>
              <a:gd name="adj" fmla="val 8000"/>
            </a:avLst>
          </a:prstGeom>
          <a:solidFill>
            <a:srgbClr val="111D30"/>
          </a:solidFill>
          <a:ln>
            <a:solidFill>
              <a:srgbClr val="2435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58952" y="2697480"/>
            <a:ext cx="45720" cy="310896"/>
          </a:xfrm>
          <a:prstGeom prst="rect">
            <a:avLst/>
          </a:prstGeom>
          <a:solidFill>
            <a:srgbClr val="66E6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3544" y="2724912"/>
            <a:ext cx="2148839" cy="411480"/>
          </a:xfrm>
          <a:prstGeom prst="rect">
            <a:avLst/>
          </a:prstGeom>
          <a:noFill/>
        </p:spPr>
        <p:txBody>
          <a:bodyPr wrap="square" lIns="13716" rIns="13716" tIns="0" bIns="0">
            <a:spAutoFit/>
          </a:bodyPr>
          <a:lstStyle/>
          <a:p>
            <a:pPr>
              <a:spcAft>
                <a:spcPts val="800"/>
              </a:spcAft>
              <a:defRPr sz="1600" b="1">
                <a:solidFill>
                  <a:srgbClr val="66E6CD"/>
                </a:solidFill>
                <a:latin typeface="DejaVu Sans"/>
              </a:defRPr>
            </a:pPr>
            <a:r>
              <a:t>ACTION TAPE</a:t>
            </a:r>
          </a:p>
        </p:txBody>
      </p:sp>
      <p:sp>
        <p:nvSpPr>
          <p:cNvPr id="16" name="TextBox 15"/>
          <p:cNvSpPr txBox="1"/>
          <p:nvPr/>
        </p:nvSpPr>
        <p:spPr>
          <a:xfrm>
            <a:off x="804672" y="3355848"/>
            <a:ext cx="2231136" cy="914399"/>
          </a:xfrm>
          <a:prstGeom prst="rect">
            <a:avLst/>
          </a:prstGeom>
          <a:noFill/>
        </p:spPr>
        <p:txBody>
          <a:bodyPr wrap="square" lIns="13716" rIns="13716" tIns="0" bIns="0">
            <a:spAutoFit/>
          </a:bodyPr>
          <a:lstStyle/>
          <a:p>
            <a:pPr>
              <a:spcAft>
                <a:spcPts val="800"/>
              </a:spcAft>
              <a:defRPr sz="1500" b="0">
                <a:solidFill>
                  <a:srgbClr val="EDF4FF"/>
                </a:solidFill>
                <a:latin typeface="DejaVu Sans"/>
              </a:defRPr>
            </a:pPr>
            <a:r>
              <a:t>Recorded or authored</a:t>
            </a:r>
          </a:p>
          <a:p>
            <a:pPr>
              <a:spcAft>
                <a:spcPts val="800"/>
              </a:spcAft>
              <a:defRPr sz="1500" b="0">
                <a:solidFill>
                  <a:srgbClr val="EDF4FF"/>
                </a:solidFill>
                <a:latin typeface="DejaVu Sans"/>
              </a:defRPr>
            </a:pPr>
            <a:r>
              <a:t>seeded decisions</a:t>
            </a:r>
          </a:p>
        </p:txBody>
      </p:sp>
      <p:sp>
        <p:nvSpPr>
          <p:cNvPr id="17" name="Rounded Rectangle 16"/>
          <p:cNvSpPr/>
          <p:nvPr/>
        </p:nvSpPr>
        <p:spPr>
          <a:xfrm>
            <a:off x="3410712" y="2514600"/>
            <a:ext cx="2651760" cy="1874519"/>
          </a:xfrm>
          <a:prstGeom prst="roundRect">
            <a:avLst>
              <a:gd name="adj" fmla="val 8000"/>
            </a:avLst>
          </a:prstGeom>
          <a:solidFill>
            <a:srgbClr val="111D30"/>
          </a:solidFill>
          <a:ln>
            <a:solidFill>
              <a:srgbClr val="2435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75304" y="2697480"/>
            <a:ext cx="45720" cy="310896"/>
          </a:xfrm>
          <a:prstGeom prst="rect">
            <a:avLst/>
          </a:prstGeom>
          <a:solidFill>
            <a:srgbClr val="66E6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39896" y="2724912"/>
            <a:ext cx="2148839" cy="411480"/>
          </a:xfrm>
          <a:prstGeom prst="rect">
            <a:avLst/>
          </a:prstGeom>
          <a:noFill/>
        </p:spPr>
        <p:txBody>
          <a:bodyPr wrap="square" lIns="13716" rIns="13716" tIns="0" bIns="0">
            <a:spAutoFit/>
          </a:bodyPr>
          <a:lstStyle/>
          <a:p>
            <a:pPr>
              <a:spcAft>
                <a:spcPts val="800"/>
              </a:spcAft>
              <a:defRPr sz="1600" b="1">
                <a:solidFill>
                  <a:srgbClr val="66E6CD"/>
                </a:solidFill>
                <a:latin typeface="DejaVu Sans"/>
              </a:defRPr>
            </a:pPr>
            <a:r>
              <a:t>WORLD ENGINE</a:t>
            </a:r>
          </a:p>
        </p:txBody>
      </p:sp>
      <p:sp>
        <p:nvSpPr>
          <p:cNvPr id="20" name="TextBox 19"/>
          <p:cNvSpPr txBox="1"/>
          <p:nvPr/>
        </p:nvSpPr>
        <p:spPr>
          <a:xfrm>
            <a:off x="3621024" y="3355848"/>
            <a:ext cx="2231136" cy="914399"/>
          </a:xfrm>
          <a:prstGeom prst="rect">
            <a:avLst/>
          </a:prstGeom>
          <a:noFill/>
        </p:spPr>
        <p:txBody>
          <a:bodyPr wrap="square" lIns="13716" rIns="13716" tIns="0" bIns="0">
            <a:spAutoFit/>
          </a:bodyPr>
          <a:lstStyle/>
          <a:p>
            <a:pPr>
              <a:spcAft>
                <a:spcPts val="800"/>
              </a:spcAft>
              <a:defRPr sz="1500" b="0">
                <a:solidFill>
                  <a:srgbClr val="EDF4FF"/>
                </a:solidFill>
                <a:latin typeface="DejaVu Sans"/>
              </a:defRPr>
            </a:pPr>
            <a:r>
              <a:t>Movement, possession,</a:t>
            </a:r>
          </a:p>
          <a:p>
            <a:pPr>
              <a:spcAft>
                <a:spcPts val="800"/>
              </a:spcAft>
              <a:defRPr sz="1500" b="0">
                <a:solidFill>
                  <a:srgbClr val="EDF4FF"/>
                </a:solidFill>
                <a:latin typeface="DejaVu Sans"/>
              </a:defRPr>
            </a:pPr>
            <a:r>
              <a:t>attack and delivery</a:t>
            </a:r>
          </a:p>
        </p:txBody>
      </p:sp>
      <p:sp>
        <p:nvSpPr>
          <p:cNvPr id="21" name="Rounded Rectangle 20"/>
          <p:cNvSpPr/>
          <p:nvPr/>
        </p:nvSpPr>
        <p:spPr>
          <a:xfrm>
            <a:off x="6227064" y="2514600"/>
            <a:ext cx="2651760" cy="1874519"/>
          </a:xfrm>
          <a:prstGeom prst="roundRect">
            <a:avLst>
              <a:gd name="adj" fmla="val 8000"/>
            </a:avLst>
          </a:prstGeom>
          <a:solidFill>
            <a:srgbClr val="111D30"/>
          </a:solidFill>
          <a:ln>
            <a:solidFill>
              <a:srgbClr val="2435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91656" y="2697480"/>
            <a:ext cx="45720" cy="310896"/>
          </a:xfrm>
          <a:prstGeom prst="rect">
            <a:avLst/>
          </a:prstGeom>
          <a:solidFill>
            <a:srgbClr val="66E6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56248" y="2724912"/>
            <a:ext cx="2148839" cy="411480"/>
          </a:xfrm>
          <a:prstGeom prst="rect">
            <a:avLst/>
          </a:prstGeom>
          <a:noFill/>
        </p:spPr>
        <p:txBody>
          <a:bodyPr wrap="square" lIns="13716" rIns="13716" tIns="0" bIns="0">
            <a:spAutoFit/>
          </a:bodyPr>
          <a:lstStyle/>
          <a:p>
            <a:pPr>
              <a:spcAft>
                <a:spcPts val="800"/>
              </a:spcAft>
              <a:defRPr sz="1600" b="1">
                <a:solidFill>
                  <a:srgbClr val="66E6CD"/>
                </a:solidFill>
                <a:latin typeface="DejaVu Sans"/>
              </a:defRPr>
            </a:pPr>
            <a:r>
              <a:t>LOCAL EFFECTS</a:t>
            </a:r>
          </a:p>
        </p:txBody>
      </p:sp>
      <p:sp>
        <p:nvSpPr>
          <p:cNvPr id="24" name="TextBox 23"/>
          <p:cNvSpPr txBox="1"/>
          <p:nvPr/>
        </p:nvSpPr>
        <p:spPr>
          <a:xfrm>
            <a:off x="6437376" y="3355848"/>
            <a:ext cx="2231136" cy="914399"/>
          </a:xfrm>
          <a:prstGeom prst="rect">
            <a:avLst/>
          </a:prstGeom>
          <a:noFill/>
        </p:spPr>
        <p:txBody>
          <a:bodyPr wrap="square" lIns="13716" rIns="13716" tIns="0" bIns="0">
            <a:spAutoFit/>
          </a:bodyPr>
          <a:lstStyle/>
          <a:p>
            <a:pPr>
              <a:spcAft>
                <a:spcPts val="800"/>
              </a:spcAft>
              <a:defRPr sz="1500" b="0">
                <a:solidFill>
                  <a:srgbClr val="EDF4FF"/>
                </a:solidFill>
                <a:latin typeface="DejaVu Sans"/>
              </a:defRPr>
            </a:pPr>
            <a:r>
              <a:t>Physical traces +</a:t>
            </a:r>
          </a:p>
          <a:p>
            <a:pPr>
              <a:spcAft>
                <a:spcPts val="800"/>
              </a:spcAft>
              <a:defRPr sz="1500" b="0">
                <a:solidFill>
                  <a:srgbClr val="EDF4FF"/>
                </a:solidFill>
                <a:latin typeface="DejaVu Sans"/>
              </a:defRPr>
            </a:pPr>
            <a:r>
              <a:t>limited perception</a:t>
            </a:r>
          </a:p>
        </p:txBody>
      </p:sp>
      <p:sp>
        <p:nvSpPr>
          <p:cNvPr id="25" name="Rounded Rectangle 24"/>
          <p:cNvSpPr/>
          <p:nvPr/>
        </p:nvSpPr>
        <p:spPr>
          <a:xfrm>
            <a:off x="9043416" y="2514600"/>
            <a:ext cx="2651760" cy="1874519"/>
          </a:xfrm>
          <a:prstGeom prst="roundRect">
            <a:avLst>
              <a:gd name="adj" fmla="val 8000"/>
            </a:avLst>
          </a:prstGeom>
          <a:solidFill>
            <a:srgbClr val="111D30"/>
          </a:solidFill>
          <a:ln>
            <a:solidFill>
              <a:srgbClr val="2435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208008" y="2697480"/>
            <a:ext cx="45720" cy="310896"/>
          </a:xfrm>
          <a:prstGeom prst="rect">
            <a:avLst/>
          </a:prstGeom>
          <a:solidFill>
            <a:srgbClr val="66E6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72600" y="2724912"/>
            <a:ext cx="2148839" cy="411480"/>
          </a:xfrm>
          <a:prstGeom prst="rect">
            <a:avLst/>
          </a:prstGeom>
          <a:noFill/>
        </p:spPr>
        <p:txBody>
          <a:bodyPr wrap="square" lIns="13716" rIns="13716" tIns="0" bIns="0">
            <a:spAutoFit/>
          </a:bodyPr>
          <a:lstStyle/>
          <a:p>
            <a:pPr>
              <a:spcAft>
                <a:spcPts val="800"/>
              </a:spcAft>
              <a:defRPr sz="1600" b="1">
                <a:solidFill>
                  <a:srgbClr val="66E6CD"/>
                </a:solidFill>
                <a:latin typeface="DejaVu Sans"/>
              </a:defRPr>
            </a:pPr>
            <a:r>
              <a:t>INVESTIGATION</a:t>
            </a:r>
          </a:p>
        </p:txBody>
      </p:sp>
      <p:sp>
        <p:nvSpPr>
          <p:cNvPr id="28" name="TextBox 27"/>
          <p:cNvSpPr txBox="1"/>
          <p:nvPr/>
        </p:nvSpPr>
        <p:spPr>
          <a:xfrm>
            <a:off x="9253728" y="3355848"/>
            <a:ext cx="2231136" cy="914399"/>
          </a:xfrm>
          <a:prstGeom prst="rect">
            <a:avLst/>
          </a:prstGeom>
          <a:noFill/>
        </p:spPr>
        <p:txBody>
          <a:bodyPr wrap="square" lIns="13716" rIns="13716" tIns="0" bIns="0">
            <a:spAutoFit/>
          </a:bodyPr>
          <a:lstStyle/>
          <a:p>
            <a:pPr>
              <a:spcAft>
                <a:spcPts val="800"/>
              </a:spcAft>
              <a:defRPr sz="1500" b="0">
                <a:solidFill>
                  <a:srgbClr val="EDF4FF"/>
                </a:solidFill>
                <a:latin typeface="DejaVu Sans"/>
              </a:defRPr>
            </a:pPr>
            <a:r>
              <a:t>Persistent tools,</a:t>
            </a:r>
          </a:p>
          <a:p>
            <a:pPr>
              <a:spcAft>
                <a:spcPts val="800"/>
              </a:spcAft>
              <a:defRPr sz="1500" b="0">
                <a:solidFill>
                  <a:srgbClr val="EDF4FF"/>
                </a:solidFill>
                <a:latin typeface="DejaVu Sans"/>
              </a:defRPr>
            </a:pPr>
            <a:r>
              <a:t>receipts and dialogue</a:t>
            </a:r>
          </a:p>
        </p:txBody>
      </p:sp>
      <p:sp>
        <p:nvSpPr>
          <p:cNvPr id="29" name="Rounded Rectangle 28"/>
          <p:cNvSpPr/>
          <p:nvPr/>
        </p:nvSpPr>
        <p:spPr>
          <a:xfrm>
            <a:off x="594360" y="4599432"/>
            <a:ext cx="3429000" cy="1124712"/>
          </a:xfrm>
          <a:prstGeom prst="roundRect">
            <a:avLst>
              <a:gd name="adj" fmla="val 8000"/>
            </a:avLst>
          </a:prstGeom>
          <a:solidFill>
            <a:srgbClr val="111D30"/>
          </a:solidFill>
          <a:ln>
            <a:solidFill>
              <a:srgbClr val="2435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58952" y="4782312"/>
            <a:ext cx="45720" cy="310896"/>
          </a:xfrm>
          <a:prstGeom prst="rect">
            <a:avLst/>
          </a:prstGeom>
          <a:solidFill>
            <a:srgbClr val="FFC1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23544" y="4809744"/>
            <a:ext cx="2926080" cy="411480"/>
          </a:xfrm>
          <a:prstGeom prst="rect">
            <a:avLst/>
          </a:prstGeom>
          <a:noFill/>
        </p:spPr>
        <p:txBody>
          <a:bodyPr wrap="square" lIns="13716" rIns="13716" tIns="0" bIns="0">
            <a:spAutoFit/>
          </a:bodyPr>
          <a:lstStyle/>
          <a:p>
            <a:pPr>
              <a:spcAft>
                <a:spcPts val="800"/>
              </a:spcAft>
              <a:defRPr sz="1600" b="1">
                <a:solidFill>
                  <a:srgbClr val="FFC177"/>
                </a:solidFill>
                <a:latin typeface="DejaVu Sans"/>
              </a:defRPr>
            </a:pPr>
            <a:r>
              <a:t>NO ASSAULT</a:t>
            </a:r>
          </a:p>
        </p:txBody>
      </p:sp>
      <p:sp>
        <p:nvSpPr>
          <p:cNvPr id="32" name="TextBox 31"/>
          <p:cNvSpPr txBox="1"/>
          <p:nvPr/>
        </p:nvSpPr>
        <p:spPr>
          <a:xfrm>
            <a:off x="804672" y="5440680"/>
            <a:ext cx="3008376" cy="164591"/>
          </a:xfrm>
          <a:prstGeom prst="rect">
            <a:avLst/>
          </a:prstGeom>
          <a:noFill/>
        </p:spPr>
        <p:txBody>
          <a:bodyPr wrap="square" lIns="13716" rIns="13716" tIns="0" bIns="0">
            <a:spAutoFit/>
          </a:bodyPr>
          <a:lstStyle/>
          <a:p>
            <a:pPr>
              <a:spcAft>
                <a:spcPts val="800"/>
              </a:spcAft>
              <a:defRPr sz="1200" b="0">
                <a:solidFill>
                  <a:srgbClr val="EDF4FF"/>
                </a:solidFill>
                <a:latin typeface="DejaVu Sans"/>
              </a:defRPr>
            </a:pPr>
            <a:r>
              <a:t>No fatal lamp injury.</a:t>
            </a:r>
          </a:p>
        </p:txBody>
      </p:sp>
      <p:sp>
        <p:nvSpPr>
          <p:cNvPr id="33" name="Rounded Rectangle 32"/>
          <p:cNvSpPr/>
          <p:nvPr/>
        </p:nvSpPr>
        <p:spPr>
          <a:xfrm>
            <a:off x="4389120" y="4599432"/>
            <a:ext cx="3429000" cy="1124712"/>
          </a:xfrm>
          <a:prstGeom prst="roundRect">
            <a:avLst>
              <a:gd name="adj" fmla="val 8000"/>
            </a:avLst>
          </a:prstGeom>
          <a:solidFill>
            <a:srgbClr val="111D30"/>
          </a:solidFill>
          <a:ln>
            <a:solidFill>
              <a:srgbClr val="2435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53712" y="4782312"/>
            <a:ext cx="45720" cy="310896"/>
          </a:xfrm>
          <a:prstGeom prst="rect">
            <a:avLst/>
          </a:prstGeom>
          <a:solidFill>
            <a:srgbClr val="FFC1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18304" y="4809744"/>
            <a:ext cx="2926080" cy="411480"/>
          </a:xfrm>
          <a:prstGeom prst="rect">
            <a:avLst/>
          </a:prstGeom>
          <a:noFill/>
        </p:spPr>
        <p:txBody>
          <a:bodyPr wrap="square" lIns="13716" rIns="13716" tIns="0" bIns="0">
            <a:spAutoFit/>
          </a:bodyPr>
          <a:lstStyle/>
          <a:p>
            <a:pPr>
              <a:spcAft>
                <a:spcPts val="800"/>
              </a:spcAft>
              <a:defRPr sz="1600" b="1">
                <a:solidFill>
                  <a:srgbClr val="FFC177"/>
                </a:solidFill>
                <a:latin typeface="DejaVu Sans"/>
              </a:defRPr>
            </a:pPr>
            <a:r>
              <a:t>INTACT BRAKE</a:t>
            </a:r>
          </a:p>
        </p:txBody>
      </p:sp>
      <p:sp>
        <p:nvSpPr>
          <p:cNvPr id="36" name="TextBox 35"/>
          <p:cNvSpPr txBox="1"/>
          <p:nvPr/>
        </p:nvSpPr>
        <p:spPr>
          <a:xfrm>
            <a:off x="4599432" y="5440680"/>
            <a:ext cx="3008376" cy="164591"/>
          </a:xfrm>
          <a:prstGeom prst="rect">
            <a:avLst/>
          </a:prstGeom>
          <a:noFill/>
        </p:spPr>
        <p:txBody>
          <a:bodyPr wrap="square" lIns="13716" rIns="13716" tIns="0" bIns="0">
            <a:spAutoFit/>
          </a:bodyPr>
          <a:lstStyle/>
          <a:p>
            <a:pPr>
              <a:spcAft>
                <a:spcPts val="800"/>
              </a:spcAft>
              <a:defRPr sz="1200" b="0">
                <a:solidFill>
                  <a:srgbClr val="EDF4FF"/>
                </a:solidFill>
                <a:latin typeface="DejaVu Sans"/>
              </a:defRPr>
            </a:pPr>
            <a:r>
              <a:t>No sabotage-caused coach deaths.</a:t>
            </a:r>
          </a:p>
        </p:txBody>
      </p:sp>
      <p:sp>
        <p:nvSpPr>
          <p:cNvPr id="37" name="Rounded Rectangle 36"/>
          <p:cNvSpPr/>
          <p:nvPr/>
        </p:nvSpPr>
        <p:spPr>
          <a:xfrm>
            <a:off x="8183879" y="4599432"/>
            <a:ext cx="3429000" cy="1124712"/>
          </a:xfrm>
          <a:prstGeom prst="roundRect">
            <a:avLst>
              <a:gd name="adj" fmla="val 8000"/>
            </a:avLst>
          </a:prstGeom>
          <a:solidFill>
            <a:srgbClr val="111D30"/>
          </a:solidFill>
          <a:ln>
            <a:solidFill>
              <a:srgbClr val="2435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348471" y="4782312"/>
            <a:ext cx="45720" cy="310896"/>
          </a:xfrm>
          <a:prstGeom prst="rect">
            <a:avLst/>
          </a:prstGeom>
          <a:solidFill>
            <a:srgbClr val="FFC1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13063" y="4809744"/>
            <a:ext cx="2926080" cy="411480"/>
          </a:xfrm>
          <a:prstGeom prst="rect">
            <a:avLst/>
          </a:prstGeom>
          <a:noFill/>
        </p:spPr>
        <p:txBody>
          <a:bodyPr wrap="square" lIns="13716" rIns="13716" tIns="0" bIns="0">
            <a:spAutoFit/>
          </a:bodyPr>
          <a:lstStyle/>
          <a:p>
            <a:pPr>
              <a:spcAft>
                <a:spcPts val="800"/>
              </a:spcAft>
              <a:defRPr sz="1600" b="1">
                <a:solidFill>
                  <a:srgbClr val="FFC177"/>
                </a:solidFill>
                <a:latin typeface="DejaVu Sans"/>
              </a:defRPr>
            </a:pPr>
            <a:r>
              <a:t>ORDINARY CORDIAL</a:t>
            </a:r>
          </a:p>
        </p:txBody>
      </p:sp>
      <p:sp>
        <p:nvSpPr>
          <p:cNvPr id="40" name="TextBox 39"/>
          <p:cNvSpPr txBox="1"/>
          <p:nvPr/>
        </p:nvSpPr>
        <p:spPr>
          <a:xfrm>
            <a:off x="8394192" y="5440680"/>
            <a:ext cx="3008376" cy="164591"/>
          </a:xfrm>
          <a:prstGeom prst="rect">
            <a:avLst/>
          </a:prstGeom>
          <a:noFill/>
        </p:spPr>
        <p:txBody>
          <a:bodyPr wrap="square" lIns="13716" rIns="13716" tIns="0" bIns="0">
            <a:spAutoFit/>
          </a:bodyPr>
          <a:lstStyle/>
          <a:p>
            <a:pPr>
              <a:spcAft>
                <a:spcPts val="800"/>
              </a:spcAft>
              <a:defRPr sz="1200" b="0">
                <a:solidFill>
                  <a:srgbClr val="EDF4FF"/>
                </a:solidFill>
                <a:latin typeface="DejaVu Sans"/>
              </a:defRPr>
            </a:pPr>
            <a:r>
              <a:t>No adulteration-caused death.</a:t>
            </a:r>
          </a:p>
        </p:txBody>
      </p:sp>
      <p:sp>
        <p:nvSpPr>
          <p:cNvPr id="41" name="TextBox 40"/>
          <p:cNvSpPr txBox="1"/>
          <p:nvPr/>
        </p:nvSpPr>
        <p:spPr>
          <a:xfrm>
            <a:off x="594360" y="5980176"/>
            <a:ext cx="10972800" cy="320040"/>
          </a:xfrm>
          <a:prstGeom prst="rect">
            <a:avLst/>
          </a:prstGeom>
          <a:noFill/>
        </p:spPr>
        <p:txBody>
          <a:bodyPr wrap="square" lIns="13716" rIns="13716" tIns="0" bIns="0">
            <a:spAutoFit/>
          </a:bodyPr>
          <a:lstStyle/>
          <a:p>
            <a:pPr>
              <a:spcAft>
                <a:spcPts val="800"/>
              </a:spcAft>
              <a:defRPr sz="1100" b="0">
                <a:solidFill>
                  <a:srgbClr val="A4B6CD"/>
                </a:solidFill>
                <a:latin typeface="DejaVu Sans"/>
              </a:defRPr>
            </a:pPr>
            <a:r>
              <a:t>Mercy House replays recorded LLM actions. New cases execute authored seeded tapes. Continuous offstage lives are unfinished.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90F1B"/>
        </a:solidFill>
        <a:effectLst/>
      </p:bgPr>
    </p:bg>
    <p:spTree>
      <p:nvGrpSpPr>
        <p:cNvPr id="1" name=""/>
        <p:cNvGrpSpPr/>
        <p:nvPr/>
      </p:nvGrpSpPr>
      <p:grpSpPr/>
      <p:sp>
        <p:nvSpPr>
          <p:cNvPr id="2" name="Rectangle 1"/>
          <p:cNvSpPr/>
          <p:nvPr/>
        </p:nvSpPr>
        <p:spPr>
          <a:xfrm>
            <a:off x="758952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68680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78408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88136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38912" y="347472"/>
            <a:ext cx="91440" cy="146304"/>
          </a:xfrm>
          <a:prstGeom prst="rect">
            <a:avLst/>
          </a:prstGeom>
          <a:solidFill>
            <a:srgbClr val="66E6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8" y="301752"/>
            <a:ext cx="10058400" cy="219456"/>
          </a:xfrm>
          <a:prstGeom prst="rect">
            <a:avLst/>
          </a:prstGeom>
          <a:noFill/>
        </p:spPr>
        <p:txBody>
          <a:bodyPr wrap="square" lIns="13716" rIns="13716" tIns="0" bIns="0">
            <a:spAutoFit/>
          </a:bodyPr>
          <a:lstStyle/>
          <a:p>
            <a:pPr>
              <a:spcAft>
                <a:spcPts val="800"/>
              </a:spcAft>
              <a:defRPr sz="1000" b="1">
                <a:solidFill>
                  <a:srgbClr val="66E6CD"/>
                </a:solidFill>
                <a:latin typeface="DejaVu Sans"/>
              </a:defRPr>
            </a:pPr>
            <a:r>
              <a:t>MERCY HOUSE  /  CHARACTER MODEL ARCHITECTURE</a:t>
            </a:r>
          </a:p>
        </p:txBody>
      </p:sp>
      <p:sp>
        <p:nvSpPr>
          <p:cNvPr id="8" name="TextBox 7"/>
          <p:cNvSpPr txBox="1"/>
          <p:nvPr/>
        </p:nvSpPr>
        <p:spPr>
          <a:xfrm>
            <a:off x="548640" y="859536"/>
            <a:ext cx="11064240" cy="822960"/>
          </a:xfrm>
          <a:prstGeom prst="rect">
            <a:avLst/>
          </a:prstGeom>
          <a:noFill/>
        </p:spPr>
        <p:txBody>
          <a:bodyPr wrap="square" lIns="13716" rIns="13716" tIns="0" bIns="0">
            <a:spAutoFit/>
          </a:bodyPr>
          <a:lstStyle/>
          <a:p>
            <a:pPr>
              <a:spcAft>
                <a:spcPts val="800"/>
              </a:spcAft>
              <a:defRPr sz="3100" b="1">
                <a:solidFill>
                  <a:srgbClr val="EDF4FF"/>
                </a:solidFill>
                <a:latin typeface="DejaVu Sans"/>
              </a:defRPr>
            </a:pPr>
            <a:r>
              <a:t>Each character owns its memories.</a:t>
            </a:r>
          </a:p>
        </p:txBody>
      </p:sp>
      <p:sp>
        <p:nvSpPr>
          <p:cNvPr id="9" name="TextBox 8"/>
          <p:cNvSpPr txBox="1"/>
          <p:nvPr/>
        </p:nvSpPr>
        <p:spPr>
          <a:xfrm>
            <a:off x="566928" y="1691640"/>
            <a:ext cx="10972800" cy="594360"/>
          </a:xfrm>
          <a:prstGeom prst="rect">
            <a:avLst/>
          </a:prstGeom>
          <a:noFill/>
        </p:spPr>
        <p:txBody>
          <a:bodyPr wrap="square" lIns="13716" rIns="13716" tIns="0" bIns="0">
            <a:spAutoFit/>
          </a:bodyPr>
          <a:lstStyle/>
          <a:p>
            <a:pPr>
              <a:spcAft>
                <a:spcPts val="800"/>
              </a:spcAft>
              <a:defRPr sz="1500" b="0">
                <a:solidFill>
                  <a:srgbClr val="A4B6CD"/>
                </a:solidFill>
                <a:latin typeface="DejaVu Sans"/>
              </a:defRPr>
            </a:pPr>
            <a:r>
              <a:t>Private planning and public speech use separate contexts; physical truth stays in the engine.</a:t>
            </a:r>
          </a:p>
        </p:txBody>
      </p:sp>
      <p:sp>
        <p:nvSpPr>
          <p:cNvPr id="10" name="Rectangle 9"/>
          <p:cNvSpPr/>
          <p:nvPr/>
        </p:nvSpPr>
        <p:spPr>
          <a:xfrm>
            <a:off x="548640" y="6428232"/>
            <a:ext cx="11064240" cy="10972"/>
          </a:xfrm>
          <a:prstGeom prst="rect">
            <a:avLst/>
          </a:prstGeom>
          <a:solidFill>
            <a:srgbClr val="2435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6537960"/>
            <a:ext cx="10332720" cy="201168"/>
          </a:xfrm>
          <a:prstGeom prst="rect">
            <a:avLst/>
          </a:prstGeom>
          <a:noFill/>
        </p:spPr>
        <p:txBody>
          <a:bodyPr wrap="square" lIns="13716" rIns="13716" tIns="0" bIns="0">
            <a:spAutoFit/>
          </a:bodyPr>
          <a:lstStyle/>
          <a:p>
            <a:pPr>
              <a:spcAft>
                <a:spcPts val="800"/>
              </a:spcAft>
              <a:defRPr sz="800" b="0">
                <a:solidFill>
                  <a:srgbClr val="A4B6CD"/>
                </a:solidFill>
                <a:latin typeface="DejaVu Sans"/>
              </a:defRPr>
            </a:pPr>
            <a:r>
              <a:t>KASUKABE DEFENCE FORCE  •  RL ENVIRONMENT HACKATHON</a:t>
            </a:r>
          </a:p>
        </p:txBody>
      </p:sp>
      <p:sp>
        <p:nvSpPr>
          <p:cNvPr id="12" name="TextBox 11"/>
          <p:cNvSpPr txBox="1"/>
          <p:nvPr/>
        </p:nvSpPr>
        <p:spPr>
          <a:xfrm>
            <a:off x="10972800" y="6510528"/>
            <a:ext cx="640080" cy="228600"/>
          </a:xfrm>
          <a:prstGeom prst="rect">
            <a:avLst/>
          </a:prstGeom>
          <a:noFill/>
        </p:spPr>
        <p:txBody>
          <a:bodyPr wrap="square" lIns="13716" rIns="13716" tIns="0" bIns="0">
            <a:spAutoFit/>
          </a:bodyPr>
          <a:lstStyle/>
          <a:p>
            <a:pPr>
              <a:spcAft>
                <a:spcPts val="800"/>
              </a:spcAft>
              <a:defRPr sz="900" b="0">
                <a:solidFill>
                  <a:srgbClr val="66E6CD"/>
                </a:solidFill>
                <a:latin typeface="DejaVu Sans"/>
              </a:defRPr>
            </a:pPr>
            <a:r>
              <a:t>05 / 14</a:t>
            </a:r>
          </a:p>
        </p:txBody>
      </p:sp>
      <p:sp>
        <p:nvSpPr>
          <p:cNvPr id="13" name="Rounded Rectangle 12"/>
          <p:cNvSpPr/>
          <p:nvPr/>
        </p:nvSpPr>
        <p:spPr>
          <a:xfrm>
            <a:off x="594360" y="2514600"/>
            <a:ext cx="3383280" cy="2377440"/>
          </a:xfrm>
          <a:prstGeom prst="roundRect">
            <a:avLst>
              <a:gd name="adj" fmla="val 8000"/>
            </a:avLst>
          </a:prstGeom>
          <a:solidFill>
            <a:srgbClr val="111D30"/>
          </a:solidFill>
          <a:ln>
            <a:solidFill>
              <a:srgbClr val="2435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58952" y="2697480"/>
            <a:ext cx="45720" cy="310896"/>
          </a:xfrm>
          <a:prstGeom prst="rect">
            <a:avLst/>
          </a:prstGeom>
          <a:solidFill>
            <a:srgbClr val="66E6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3544" y="2724912"/>
            <a:ext cx="2880360" cy="411480"/>
          </a:xfrm>
          <a:prstGeom prst="rect">
            <a:avLst/>
          </a:prstGeom>
          <a:noFill/>
        </p:spPr>
        <p:txBody>
          <a:bodyPr wrap="square" lIns="13716" rIns="13716" tIns="0" bIns="0">
            <a:spAutoFit/>
          </a:bodyPr>
          <a:lstStyle/>
          <a:p>
            <a:pPr>
              <a:spcAft>
                <a:spcPts val="800"/>
              </a:spcAft>
              <a:defRPr sz="1600" b="1">
                <a:solidFill>
                  <a:srgbClr val="66E6CD"/>
                </a:solidFill>
                <a:latin typeface="DejaVu Sans"/>
              </a:defRPr>
            </a:pPr>
            <a:r>
              <a:t>PRIVATE PLANNER</a:t>
            </a:r>
          </a:p>
        </p:txBody>
      </p:sp>
      <p:sp>
        <p:nvSpPr>
          <p:cNvPr id="16" name="TextBox 15"/>
          <p:cNvSpPr txBox="1"/>
          <p:nvPr/>
        </p:nvSpPr>
        <p:spPr>
          <a:xfrm>
            <a:off x="804672" y="3355848"/>
            <a:ext cx="2962656" cy="1417320"/>
          </a:xfrm>
          <a:prstGeom prst="rect">
            <a:avLst/>
          </a:prstGeom>
          <a:noFill/>
        </p:spPr>
        <p:txBody>
          <a:bodyPr wrap="square" lIns="13716" rIns="13716" tIns="0" bIns="0">
            <a:spAutoFit/>
          </a:bodyPr>
          <a:lstStyle/>
          <a:p>
            <a:pPr>
              <a:spcAft>
                <a:spcPts val="800"/>
              </a:spcAft>
              <a:defRPr sz="1700" b="0">
                <a:solidFill>
                  <a:srgbClr val="EDF4FF"/>
                </a:solidFill>
                <a:latin typeface="DejaVu Sans"/>
              </a:defRPr>
            </a:pPr>
            <a:r>
              <a:t>Own life, local memories and legal choices. The raw detective question is replaced by derived topics.</a:t>
            </a:r>
          </a:p>
        </p:txBody>
      </p:sp>
      <p:sp>
        <p:nvSpPr>
          <p:cNvPr id="17" name="Rounded Rectangle 16"/>
          <p:cNvSpPr/>
          <p:nvPr/>
        </p:nvSpPr>
        <p:spPr>
          <a:xfrm>
            <a:off x="4407408" y="2514600"/>
            <a:ext cx="3383280" cy="2377440"/>
          </a:xfrm>
          <a:prstGeom prst="roundRect">
            <a:avLst>
              <a:gd name="adj" fmla="val 8000"/>
            </a:avLst>
          </a:prstGeom>
          <a:solidFill>
            <a:srgbClr val="111D30"/>
          </a:solidFill>
          <a:ln>
            <a:solidFill>
              <a:srgbClr val="2435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0" y="2697480"/>
            <a:ext cx="45720" cy="310896"/>
          </a:xfrm>
          <a:prstGeom prst="rect">
            <a:avLst/>
          </a:prstGeom>
          <a:solidFill>
            <a:srgbClr val="A2A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36592" y="2724912"/>
            <a:ext cx="2880360" cy="411480"/>
          </a:xfrm>
          <a:prstGeom prst="rect">
            <a:avLst/>
          </a:prstGeom>
          <a:noFill/>
        </p:spPr>
        <p:txBody>
          <a:bodyPr wrap="square" lIns="13716" rIns="13716" tIns="0" bIns="0">
            <a:spAutoFit/>
          </a:bodyPr>
          <a:lstStyle/>
          <a:p>
            <a:pPr>
              <a:spcAft>
                <a:spcPts val="800"/>
              </a:spcAft>
              <a:defRPr sz="1600" b="1">
                <a:solidFill>
                  <a:srgbClr val="A2ADFF"/>
                </a:solidFill>
                <a:latin typeface="DejaVu Sans"/>
              </a:defRPr>
            </a:pPr>
            <a:r>
              <a:t>DISCLOSURE GATE</a:t>
            </a:r>
          </a:p>
        </p:txBody>
      </p:sp>
      <p:sp>
        <p:nvSpPr>
          <p:cNvPr id="20" name="TextBox 19"/>
          <p:cNvSpPr txBox="1"/>
          <p:nvPr/>
        </p:nvSpPr>
        <p:spPr>
          <a:xfrm>
            <a:off x="4617720" y="3355848"/>
            <a:ext cx="2962656" cy="1417320"/>
          </a:xfrm>
          <a:prstGeom prst="rect">
            <a:avLst/>
          </a:prstGeom>
          <a:noFill/>
        </p:spPr>
        <p:txBody>
          <a:bodyPr wrap="square" lIns="13716" rIns="13716" tIns="0" bIns="0">
            <a:spAutoFit/>
          </a:bodyPr>
          <a:lstStyle/>
          <a:p>
            <a:pPr>
              <a:spcAft>
                <a:spcPts val="800"/>
              </a:spcAft>
              <a:defRPr sz="1700" b="0">
                <a:solidFill>
                  <a:srgbClr val="EDF4FF"/>
                </a:solidFill>
                <a:latin typeface="DejaVu Sans"/>
              </a:defRPr>
            </a:pPr>
            <a:r>
              <a:t>Trust, relevant acquired evidence and memory sensitivity determine which recollections may be released.</a:t>
            </a:r>
          </a:p>
        </p:txBody>
      </p:sp>
      <p:sp>
        <p:nvSpPr>
          <p:cNvPr id="21" name="Rounded Rectangle 20"/>
          <p:cNvSpPr/>
          <p:nvPr/>
        </p:nvSpPr>
        <p:spPr>
          <a:xfrm>
            <a:off x="8220456" y="2514600"/>
            <a:ext cx="3383280" cy="2377440"/>
          </a:xfrm>
          <a:prstGeom prst="roundRect">
            <a:avLst>
              <a:gd name="adj" fmla="val 8000"/>
            </a:avLst>
          </a:prstGeom>
          <a:solidFill>
            <a:srgbClr val="111D30"/>
          </a:solidFill>
          <a:ln>
            <a:solidFill>
              <a:srgbClr val="2435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85048" y="2697480"/>
            <a:ext cx="45720" cy="310896"/>
          </a:xfrm>
          <a:prstGeom prst="rect">
            <a:avLst/>
          </a:prstGeom>
          <a:solidFill>
            <a:srgbClr val="FFC1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49640" y="2724912"/>
            <a:ext cx="2880360" cy="411480"/>
          </a:xfrm>
          <a:prstGeom prst="rect">
            <a:avLst/>
          </a:prstGeom>
          <a:noFill/>
        </p:spPr>
        <p:txBody>
          <a:bodyPr wrap="square" lIns="13716" rIns="13716" tIns="0" bIns="0">
            <a:spAutoFit/>
          </a:bodyPr>
          <a:lstStyle/>
          <a:p>
            <a:pPr>
              <a:spcAft>
                <a:spcPts val="800"/>
              </a:spcAft>
              <a:defRPr sz="1600" b="1">
                <a:solidFill>
                  <a:srgbClr val="FFC177"/>
                </a:solidFill>
                <a:latin typeface="DejaVu Sans"/>
              </a:defRPr>
            </a:pPr>
            <a:r>
              <a:t>PUBLIC SPEAKER</a:t>
            </a:r>
          </a:p>
        </p:txBody>
      </p:sp>
      <p:sp>
        <p:nvSpPr>
          <p:cNvPr id="24" name="TextBox 23"/>
          <p:cNvSpPr txBox="1"/>
          <p:nvPr/>
        </p:nvSpPr>
        <p:spPr>
          <a:xfrm>
            <a:off x="8430768" y="3355848"/>
            <a:ext cx="2962656" cy="1417320"/>
          </a:xfrm>
          <a:prstGeom prst="rect">
            <a:avLst/>
          </a:prstGeom>
          <a:noFill/>
        </p:spPr>
        <p:txBody>
          <a:bodyPr wrap="square" lIns="13716" rIns="13716" tIns="0" bIns="0">
            <a:spAutoFit/>
          </a:bodyPr>
          <a:lstStyle/>
          <a:p>
            <a:pPr>
              <a:spcAft>
                <a:spcPts val="800"/>
              </a:spcAft>
              <a:defRPr sz="1700" b="0">
                <a:solidFill>
                  <a:srgbClr val="EDF4FF"/>
                </a:solidFill>
                <a:latin typeface="DejaVu Sans"/>
              </a:defRPr>
            </a:pPr>
            <a:r>
              <a:t>Only released recollections and public context become the spoken answer. Dialogue cannot create objects.</a:t>
            </a:r>
          </a:p>
        </p:txBody>
      </p:sp>
      <p:sp>
        <p:nvSpPr>
          <p:cNvPr id="25" name="TextBox 24"/>
          <p:cNvSpPr txBox="1"/>
          <p:nvPr/>
        </p:nvSpPr>
        <p:spPr>
          <a:xfrm>
            <a:off x="658368" y="5248656"/>
            <a:ext cx="10881360" cy="548640"/>
          </a:xfrm>
          <a:prstGeom prst="rect">
            <a:avLst/>
          </a:prstGeom>
          <a:noFill/>
        </p:spPr>
        <p:txBody>
          <a:bodyPr wrap="square" lIns="13716" rIns="13716" tIns="0" bIns="0">
            <a:spAutoFit/>
          </a:bodyPr>
          <a:lstStyle/>
          <a:p>
            <a:pPr>
              <a:spcAft>
                <a:spcPts val="800"/>
              </a:spcAft>
              <a:defRPr sz="1700" b="0">
                <a:solidFill>
                  <a:srgbClr val="A4B6CD"/>
                </a:solidFill>
                <a:latin typeface="DejaVu Sans"/>
              </a:defRPr>
            </a:pPr>
            <a:r>
              <a:t>The viewer streams observed actions, actual dialogue and stated notes. It excludes private character memories and provider reasoning.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90F1B"/>
        </a:solidFill>
        <a:effectLst/>
      </p:bgPr>
    </p:bg>
    <p:spTree>
      <p:nvGrpSpPr>
        <p:cNvPr id="1" name=""/>
        <p:cNvGrpSpPr/>
        <p:nvPr/>
      </p:nvGrpSpPr>
      <p:grpSpPr/>
      <p:sp>
        <p:nvSpPr>
          <p:cNvPr id="2" name="Rectangle 1"/>
          <p:cNvSpPr/>
          <p:nvPr/>
        </p:nvSpPr>
        <p:spPr>
          <a:xfrm>
            <a:off x="758952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68680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78408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88136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38912" y="347472"/>
            <a:ext cx="91440" cy="146304"/>
          </a:xfrm>
          <a:prstGeom prst="rect">
            <a:avLst/>
          </a:prstGeom>
          <a:solidFill>
            <a:srgbClr val="66E6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8" y="301752"/>
            <a:ext cx="10058400" cy="219456"/>
          </a:xfrm>
          <a:prstGeom prst="rect">
            <a:avLst/>
          </a:prstGeom>
          <a:noFill/>
        </p:spPr>
        <p:txBody>
          <a:bodyPr wrap="square" lIns="13716" rIns="13716" tIns="0" bIns="0">
            <a:spAutoFit/>
          </a:bodyPr>
          <a:lstStyle/>
          <a:p>
            <a:pPr>
              <a:spcAft>
                <a:spcPts val="800"/>
              </a:spcAft>
              <a:defRPr sz="1000" b="1">
                <a:solidFill>
                  <a:srgbClr val="66E6CD"/>
                </a:solidFill>
                <a:latin typeface="DejaVu Sans"/>
              </a:defRPr>
            </a:pPr>
            <a:r>
              <a:t>MERCY HOUSE  /  OBSERVABLE RESULTS AND OFFICIAL SCORING</a:t>
            </a:r>
          </a:p>
        </p:txBody>
      </p:sp>
      <p:sp>
        <p:nvSpPr>
          <p:cNvPr id="8" name="TextBox 7"/>
          <p:cNvSpPr txBox="1"/>
          <p:nvPr/>
        </p:nvSpPr>
        <p:spPr>
          <a:xfrm>
            <a:off x="548640" y="859536"/>
            <a:ext cx="11064240" cy="822960"/>
          </a:xfrm>
          <a:prstGeom prst="rect">
            <a:avLst/>
          </a:prstGeom>
          <a:noFill/>
        </p:spPr>
        <p:txBody>
          <a:bodyPr wrap="square" lIns="13716" rIns="13716" tIns="0" bIns="0">
            <a:spAutoFit/>
          </a:bodyPr>
          <a:lstStyle/>
          <a:p>
            <a:pPr>
              <a:spcAft>
                <a:spcPts val="800"/>
              </a:spcAft>
              <a:defRPr sz="3100" b="1">
                <a:solidFill>
                  <a:srgbClr val="EDF4FF"/>
                </a:solidFill>
                <a:latin typeface="DejaVu Sans"/>
              </a:defRPr>
            </a:pPr>
            <a:r>
              <a:t>The submitted report stays visible.</a:t>
            </a:r>
          </a:p>
        </p:txBody>
      </p:sp>
      <p:sp>
        <p:nvSpPr>
          <p:cNvPr id="9" name="Rectangle 8"/>
          <p:cNvSpPr/>
          <p:nvPr/>
        </p:nvSpPr>
        <p:spPr>
          <a:xfrm>
            <a:off x="548640" y="6428232"/>
            <a:ext cx="11064240" cy="10972"/>
          </a:xfrm>
          <a:prstGeom prst="rect">
            <a:avLst/>
          </a:prstGeom>
          <a:solidFill>
            <a:srgbClr val="2435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6537960"/>
            <a:ext cx="10332720" cy="201168"/>
          </a:xfrm>
          <a:prstGeom prst="rect">
            <a:avLst/>
          </a:prstGeom>
          <a:noFill/>
        </p:spPr>
        <p:txBody>
          <a:bodyPr wrap="square" lIns="13716" rIns="13716" tIns="0" bIns="0">
            <a:spAutoFit/>
          </a:bodyPr>
          <a:lstStyle/>
          <a:p>
            <a:pPr>
              <a:spcAft>
                <a:spcPts val="800"/>
              </a:spcAft>
              <a:defRPr sz="800" b="0">
                <a:solidFill>
                  <a:srgbClr val="A4B6CD"/>
                </a:solidFill>
                <a:latin typeface="DejaVu Sans"/>
              </a:defRPr>
            </a:pPr>
            <a:r>
              <a:t>KASUKABE DEFENCE FORCE  •  RL ENVIRONMENT HACKATHON</a:t>
            </a:r>
          </a:p>
        </p:txBody>
      </p:sp>
      <p:sp>
        <p:nvSpPr>
          <p:cNvPr id="11" name="TextBox 10"/>
          <p:cNvSpPr txBox="1"/>
          <p:nvPr/>
        </p:nvSpPr>
        <p:spPr>
          <a:xfrm>
            <a:off x="10972800" y="6510528"/>
            <a:ext cx="640080" cy="228600"/>
          </a:xfrm>
          <a:prstGeom prst="rect">
            <a:avLst/>
          </a:prstGeom>
          <a:noFill/>
        </p:spPr>
        <p:txBody>
          <a:bodyPr wrap="square" lIns="13716" rIns="13716" tIns="0" bIns="0">
            <a:spAutoFit/>
          </a:bodyPr>
          <a:lstStyle/>
          <a:p>
            <a:pPr>
              <a:spcAft>
                <a:spcPts val="800"/>
              </a:spcAft>
              <a:defRPr sz="900" b="0">
                <a:solidFill>
                  <a:srgbClr val="66E6CD"/>
                </a:solidFill>
                <a:latin typeface="DejaVu Sans"/>
              </a:defRPr>
            </a:pPr>
            <a:r>
              <a:t>06 / 14</a:t>
            </a:r>
          </a:p>
        </p:txBody>
      </p:sp>
      <p:pic>
        <p:nvPicPr>
          <p:cNvPr id="12" name="Picture 11" descr="ui-report.png"/>
          <p:cNvPicPr>
            <a:picLocks noChangeAspect="1"/>
          </p:cNvPicPr>
          <p:nvPr/>
        </p:nvPicPr>
        <p:blipFill>
          <a:blip r:embed="rId2"/>
          <a:stretch>
            <a:fillRect/>
          </a:stretch>
        </p:blipFill>
        <p:spPr>
          <a:xfrm>
            <a:off x="1033272" y="1828800"/>
            <a:ext cx="5705855" cy="4160520"/>
          </a:xfrm>
          <a:prstGeom prst="rect">
            <a:avLst/>
          </a:prstGeom>
        </p:spPr>
      </p:pic>
      <p:sp>
        <p:nvSpPr>
          <p:cNvPr id="13" name="Rounded Rectangle 12"/>
          <p:cNvSpPr/>
          <p:nvPr/>
        </p:nvSpPr>
        <p:spPr>
          <a:xfrm>
            <a:off x="7360920" y="1965960"/>
            <a:ext cx="4206240" cy="3639312"/>
          </a:xfrm>
          <a:prstGeom prst="roundRect">
            <a:avLst>
              <a:gd name="adj" fmla="val 8000"/>
            </a:avLst>
          </a:prstGeom>
          <a:solidFill>
            <a:srgbClr val="111D30"/>
          </a:solidFill>
          <a:ln>
            <a:solidFill>
              <a:srgbClr val="2435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2194560"/>
            <a:ext cx="3749039" cy="365760"/>
          </a:xfrm>
          <a:prstGeom prst="rect">
            <a:avLst/>
          </a:prstGeom>
          <a:noFill/>
        </p:spPr>
        <p:txBody>
          <a:bodyPr wrap="square" lIns="13716" rIns="13716" tIns="0" bIns="0">
            <a:spAutoFit/>
          </a:bodyPr>
          <a:lstStyle/>
          <a:p>
            <a:pPr>
              <a:spcAft>
                <a:spcPts val="800"/>
              </a:spcAft>
              <a:defRPr sz="1500" b="1">
                <a:solidFill>
                  <a:srgbClr val="66E6CD"/>
                </a:solidFill>
                <a:latin typeface="DejaVu Sans"/>
              </a:defRPr>
            </a:pPr>
            <a:r>
              <a:t>PROGRAMMATIC VERIFIER</a:t>
            </a:r>
          </a:p>
        </p:txBody>
      </p:sp>
      <p:sp>
        <p:nvSpPr>
          <p:cNvPr id="15" name="TextBox 14"/>
          <p:cNvSpPr txBox="1"/>
          <p:nvPr/>
        </p:nvSpPr>
        <p:spPr>
          <a:xfrm>
            <a:off x="7589520" y="2761488"/>
            <a:ext cx="3703320" cy="704088"/>
          </a:xfrm>
          <a:prstGeom prst="rect">
            <a:avLst/>
          </a:prstGeom>
          <a:noFill/>
        </p:spPr>
        <p:txBody>
          <a:bodyPr wrap="square" lIns="13716" rIns="13716" tIns="0" bIns="0">
            <a:spAutoFit/>
          </a:bodyPr>
          <a:lstStyle/>
          <a:p>
            <a:pPr>
              <a:spcAft>
                <a:spcPts val="800"/>
              </a:spcAft>
              <a:defRPr sz="2100" b="1">
                <a:solidFill>
                  <a:srgbClr val="EDF4FF"/>
                </a:solidFill>
                <a:latin typeface="DejaVu Sans"/>
              </a:defRPr>
            </a:pPr>
            <a:r>
              <a:t>R = clamp(C − .20F − .10U, 0, 1)</a:t>
            </a:r>
          </a:p>
        </p:txBody>
      </p:sp>
      <p:sp>
        <p:nvSpPr>
          <p:cNvPr id="16" name="TextBox 15"/>
          <p:cNvSpPr txBox="1"/>
          <p:nvPr/>
        </p:nvSpPr>
        <p:spPr>
          <a:xfrm>
            <a:off x="7589520" y="3685032"/>
            <a:ext cx="3675887" cy="1709928"/>
          </a:xfrm>
          <a:prstGeom prst="rect">
            <a:avLst/>
          </a:prstGeom>
          <a:noFill/>
        </p:spPr>
        <p:txBody>
          <a:bodyPr wrap="square" lIns="13716" rIns="13716" tIns="0" bIns="0">
            <a:spAutoFit/>
          </a:bodyPr>
          <a:lstStyle/>
          <a:p>
            <a:pPr>
              <a:spcAft>
                <a:spcPts val="800"/>
              </a:spcAft>
              <a:defRPr sz="1600" b="0">
                <a:solidFill>
                  <a:srgbClr val="EDF4FF"/>
                </a:solidFill>
                <a:latin typeface="DejaVu Sans"/>
              </a:defRPr>
            </a:pPr>
            <a:r>
              <a:t>C: supported target coverage</a:t>
            </a:r>
          </a:p>
          <a:p>
            <a:pPr>
              <a:spcAft>
                <a:spcPts val="800"/>
              </a:spcAft>
              <a:defRPr sz="1600" b="0">
                <a:solidFill>
                  <a:srgbClr val="EDF4FF"/>
                </a:solidFill>
                <a:latin typeface="DejaVu Sans"/>
              </a:defRPr>
            </a:pPr>
            <a:r>
              <a:t>F: distinct false findings</a:t>
            </a:r>
          </a:p>
          <a:p>
            <a:pPr>
              <a:spcAft>
                <a:spcPts val="800"/>
              </a:spcAft>
              <a:defRPr sz="1600" b="0">
                <a:solidFill>
                  <a:srgbClr val="EDF4FF"/>
                </a:solidFill>
                <a:latin typeface="DejaVu Sans"/>
              </a:defRPr>
            </a:pPr>
            <a:r>
              <a:t>U: distinct unsupported findings</a:t>
            </a:r>
          </a:p>
          <a:p>
            <a:pPr>
              <a:spcAft>
                <a:spcPts val="800"/>
              </a:spcAft>
              <a:defRPr sz="1600" b="0">
                <a:solidFill>
                  <a:srgbClr val="EDF4FF"/>
                </a:solidFill>
                <a:latin typeface="DejaVu Sans"/>
              </a:defRPr>
            </a:pPr>
            <a:r>
              <a:t>A correct guess without proof earns zero.</a:t>
            </a:r>
          </a:p>
        </p:txBody>
      </p:sp>
      <p:sp>
        <p:nvSpPr>
          <p:cNvPr id="17" name="TextBox 16"/>
          <p:cNvSpPr txBox="1"/>
          <p:nvPr/>
        </p:nvSpPr>
        <p:spPr>
          <a:xfrm>
            <a:off x="594360" y="5980176"/>
            <a:ext cx="10972800" cy="320040"/>
          </a:xfrm>
          <a:prstGeom prst="rect">
            <a:avLst/>
          </a:prstGeom>
          <a:noFill/>
        </p:spPr>
        <p:txBody>
          <a:bodyPr wrap="square" lIns="13716" rIns="13716" tIns="0" bIns="0">
            <a:spAutoFit/>
          </a:bodyPr>
          <a:lstStyle/>
          <a:p>
            <a:pPr>
              <a:spcAft>
                <a:spcPts val="800"/>
              </a:spcAft>
              <a:defRPr sz="1100" b="0">
                <a:solidFill>
                  <a:srgbClr val="A4B6CD"/>
                </a:solidFill>
                <a:latin typeface="DejaVu Sans"/>
              </a:defRPr>
            </a:pPr>
            <a:r>
              <a:t>Screenshot: actual native detective success, Lantern Room seed211. Narrative is unscored. Optional author-review LLM cannot assign rewards.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90F1B"/>
        </a:solidFill>
        <a:effectLst/>
      </p:bgPr>
    </p:bg>
    <p:spTree>
      <p:nvGrpSpPr>
        <p:cNvPr id="1" name=""/>
        <p:cNvGrpSpPr/>
        <p:nvPr/>
      </p:nvGrpSpPr>
      <p:grpSpPr/>
      <p:sp>
        <p:nvSpPr>
          <p:cNvPr id="2" name="Rectangle 1"/>
          <p:cNvSpPr/>
          <p:nvPr/>
        </p:nvSpPr>
        <p:spPr>
          <a:xfrm>
            <a:off x="758952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68680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78408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88136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38912" y="347472"/>
            <a:ext cx="91440" cy="146304"/>
          </a:xfrm>
          <a:prstGeom prst="rect">
            <a:avLst/>
          </a:prstGeom>
          <a:solidFill>
            <a:srgbClr val="66E6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8" y="301752"/>
            <a:ext cx="10058400" cy="219456"/>
          </a:xfrm>
          <a:prstGeom prst="rect">
            <a:avLst/>
          </a:prstGeom>
          <a:noFill/>
        </p:spPr>
        <p:txBody>
          <a:bodyPr wrap="square" lIns="13716" rIns="13716" tIns="0" bIns="0">
            <a:spAutoFit/>
          </a:bodyPr>
          <a:lstStyle/>
          <a:p>
            <a:pPr>
              <a:spcAft>
                <a:spcPts val="800"/>
              </a:spcAft>
              <a:defRPr sz="1000" b="1">
                <a:solidFill>
                  <a:srgbClr val="66E6CD"/>
                </a:solidFill>
                <a:latin typeface="DejaVu Sans"/>
              </a:defRPr>
            </a:pPr>
            <a:r>
              <a:t>MERCY HOUSE  /  IMPLEMENTATION AND ISOLATION</a:t>
            </a:r>
          </a:p>
        </p:txBody>
      </p:sp>
      <p:sp>
        <p:nvSpPr>
          <p:cNvPr id="8" name="TextBox 7"/>
          <p:cNvSpPr txBox="1"/>
          <p:nvPr/>
        </p:nvSpPr>
        <p:spPr>
          <a:xfrm>
            <a:off x="548640" y="859536"/>
            <a:ext cx="11064240" cy="822960"/>
          </a:xfrm>
          <a:prstGeom prst="rect">
            <a:avLst/>
          </a:prstGeom>
          <a:noFill/>
        </p:spPr>
        <p:txBody>
          <a:bodyPr wrap="square" lIns="13716" rIns="13716" tIns="0" bIns="0">
            <a:spAutoFit/>
          </a:bodyPr>
          <a:lstStyle/>
          <a:p>
            <a:pPr>
              <a:spcAft>
                <a:spcPts val="800"/>
              </a:spcAft>
              <a:defRPr sz="3100" b="1">
                <a:solidFill>
                  <a:srgbClr val="EDF4FF"/>
                </a:solidFill>
                <a:latin typeface="DejaVu Sans"/>
              </a:defRPr>
            </a:pPr>
            <a:r>
              <a:t>A small stack with explicit boundaries.</a:t>
            </a:r>
          </a:p>
        </p:txBody>
      </p:sp>
      <p:sp>
        <p:nvSpPr>
          <p:cNvPr id="9" name="TextBox 8"/>
          <p:cNvSpPr txBox="1"/>
          <p:nvPr/>
        </p:nvSpPr>
        <p:spPr>
          <a:xfrm>
            <a:off x="566928" y="1691640"/>
            <a:ext cx="10972800" cy="594360"/>
          </a:xfrm>
          <a:prstGeom prst="rect">
            <a:avLst/>
          </a:prstGeom>
          <a:noFill/>
        </p:spPr>
        <p:txBody>
          <a:bodyPr wrap="square" lIns="13716" rIns="13716" tIns="0" bIns="0">
            <a:spAutoFit/>
          </a:bodyPr>
          <a:lstStyle/>
          <a:p>
            <a:pPr>
              <a:spcAft>
                <a:spcPts val="800"/>
              </a:spcAft>
              <a:defRPr sz="1500" b="0">
                <a:solidFill>
                  <a:srgbClr val="A4B6CD"/>
                </a:solidFill>
                <a:latin typeface="DejaVu Sans"/>
              </a:defRPr>
            </a:pPr>
            <a:r>
              <a:t>Python standard-library runtime • Vanilla JavaScript, CSS and original SVG • Docker Compose • HTTPS model APIs</a:t>
            </a:r>
          </a:p>
        </p:txBody>
      </p:sp>
      <p:sp>
        <p:nvSpPr>
          <p:cNvPr id="10" name="Rectangle 9"/>
          <p:cNvSpPr/>
          <p:nvPr/>
        </p:nvSpPr>
        <p:spPr>
          <a:xfrm>
            <a:off x="548640" y="6428232"/>
            <a:ext cx="11064240" cy="10972"/>
          </a:xfrm>
          <a:prstGeom prst="rect">
            <a:avLst/>
          </a:prstGeom>
          <a:solidFill>
            <a:srgbClr val="2435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6537960"/>
            <a:ext cx="10332720" cy="201168"/>
          </a:xfrm>
          <a:prstGeom prst="rect">
            <a:avLst/>
          </a:prstGeom>
          <a:noFill/>
        </p:spPr>
        <p:txBody>
          <a:bodyPr wrap="square" lIns="13716" rIns="13716" tIns="0" bIns="0">
            <a:spAutoFit/>
          </a:bodyPr>
          <a:lstStyle/>
          <a:p>
            <a:pPr>
              <a:spcAft>
                <a:spcPts val="800"/>
              </a:spcAft>
              <a:defRPr sz="800" b="0">
                <a:solidFill>
                  <a:srgbClr val="A4B6CD"/>
                </a:solidFill>
                <a:latin typeface="DejaVu Sans"/>
              </a:defRPr>
            </a:pPr>
            <a:r>
              <a:t>KASUKABE DEFENCE FORCE  •  RL ENVIRONMENT HACKATHON</a:t>
            </a:r>
          </a:p>
        </p:txBody>
      </p:sp>
      <p:sp>
        <p:nvSpPr>
          <p:cNvPr id="12" name="TextBox 11"/>
          <p:cNvSpPr txBox="1"/>
          <p:nvPr/>
        </p:nvSpPr>
        <p:spPr>
          <a:xfrm>
            <a:off x="10972800" y="6510528"/>
            <a:ext cx="640080" cy="228600"/>
          </a:xfrm>
          <a:prstGeom prst="rect">
            <a:avLst/>
          </a:prstGeom>
          <a:noFill/>
        </p:spPr>
        <p:txBody>
          <a:bodyPr wrap="square" lIns="13716" rIns="13716" tIns="0" bIns="0">
            <a:spAutoFit/>
          </a:bodyPr>
          <a:lstStyle/>
          <a:p>
            <a:pPr>
              <a:spcAft>
                <a:spcPts val="800"/>
              </a:spcAft>
              <a:defRPr sz="900" b="0">
                <a:solidFill>
                  <a:srgbClr val="66E6CD"/>
                </a:solidFill>
                <a:latin typeface="DejaVu Sans"/>
              </a:defRPr>
            </a:pPr>
            <a:r>
              <a:t>07 / 14</a:t>
            </a:r>
          </a:p>
        </p:txBody>
      </p:sp>
      <p:sp>
        <p:nvSpPr>
          <p:cNvPr id="13" name="Rounded Rectangle 12"/>
          <p:cNvSpPr/>
          <p:nvPr/>
        </p:nvSpPr>
        <p:spPr>
          <a:xfrm>
            <a:off x="594360" y="2514600"/>
            <a:ext cx="2560320" cy="2423160"/>
          </a:xfrm>
          <a:prstGeom prst="roundRect">
            <a:avLst>
              <a:gd name="adj" fmla="val 8000"/>
            </a:avLst>
          </a:prstGeom>
          <a:solidFill>
            <a:srgbClr val="111D30"/>
          </a:solidFill>
          <a:ln>
            <a:solidFill>
              <a:srgbClr val="2435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58952" y="2697480"/>
            <a:ext cx="45720" cy="310896"/>
          </a:xfrm>
          <a:prstGeom prst="rect">
            <a:avLst/>
          </a:prstGeom>
          <a:solidFill>
            <a:srgbClr val="66E6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3544" y="2724912"/>
            <a:ext cx="2057400" cy="411480"/>
          </a:xfrm>
          <a:prstGeom prst="rect">
            <a:avLst/>
          </a:prstGeom>
          <a:noFill/>
        </p:spPr>
        <p:txBody>
          <a:bodyPr wrap="square" lIns="13716" rIns="13716" tIns="0" bIns="0">
            <a:spAutoFit/>
          </a:bodyPr>
          <a:lstStyle/>
          <a:p>
            <a:pPr>
              <a:spcAft>
                <a:spcPts val="800"/>
              </a:spcAft>
              <a:defRPr sz="1600" b="1">
                <a:solidFill>
                  <a:srgbClr val="66E6CD"/>
                </a:solidFill>
                <a:latin typeface="DejaVu Sans"/>
              </a:defRPr>
            </a:pPr>
            <a:r>
              <a:t>PROTECTED WORLD</a:t>
            </a:r>
          </a:p>
        </p:txBody>
      </p:sp>
      <p:sp>
        <p:nvSpPr>
          <p:cNvPr id="16" name="TextBox 15"/>
          <p:cNvSpPr txBox="1"/>
          <p:nvPr/>
        </p:nvSpPr>
        <p:spPr>
          <a:xfrm>
            <a:off x="804672" y="3355848"/>
            <a:ext cx="2139696" cy="1463039"/>
          </a:xfrm>
          <a:prstGeom prst="rect">
            <a:avLst/>
          </a:prstGeom>
          <a:noFill/>
        </p:spPr>
        <p:txBody>
          <a:bodyPr wrap="square" lIns="13716" rIns="13716" tIns="0" bIns="0">
            <a:spAutoFit/>
          </a:bodyPr>
          <a:lstStyle/>
          <a:p>
            <a:pPr>
              <a:spcAft>
                <a:spcPts val="800"/>
              </a:spcAft>
              <a:defRPr sz="1500" b="0">
                <a:solidFill>
                  <a:srgbClr val="EDF4FF"/>
                </a:solidFill>
                <a:latin typeface="DejaVu Sans"/>
              </a:defRPr>
            </a:pPr>
            <a:r>
              <a:t>Python state engine, receipts, proof routes and deterministic verifier.</a:t>
            </a:r>
          </a:p>
        </p:txBody>
      </p:sp>
      <p:sp>
        <p:nvSpPr>
          <p:cNvPr id="17" name="Rounded Rectangle 16"/>
          <p:cNvSpPr/>
          <p:nvPr/>
        </p:nvSpPr>
        <p:spPr>
          <a:xfrm>
            <a:off x="3410712" y="2514600"/>
            <a:ext cx="2560320" cy="2423160"/>
          </a:xfrm>
          <a:prstGeom prst="roundRect">
            <a:avLst>
              <a:gd name="adj" fmla="val 8000"/>
            </a:avLst>
          </a:prstGeom>
          <a:solidFill>
            <a:srgbClr val="111D30"/>
          </a:solidFill>
          <a:ln>
            <a:solidFill>
              <a:srgbClr val="2435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75304" y="2697480"/>
            <a:ext cx="45720" cy="310896"/>
          </a:xfrm>
          <a:prstGeom prst="rect">
            <a:avLst/>
          </a:prstGeom>
          <a:solidFill>
            <a:srgbClr val="A2A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39896" y="2724912"/>
            <a:ext cx="2057400" cy="411480"/>
          </a:xfrm>
          <a:prstGeom prst="rect">
            <a:avLst/>
          </a:prstGeom>
          <a:noFill/>
        </p:spPr>
        <p:txBody>
          <a:bodyPr wrap="square" lIns="13716" rIns="13716" tIns="0" bIns="0">
            <a:spAutoFit/>
          </a:bodyPr>
          <a:lstStyle/>
          <a:p>
            <a:pPr>
              <a:spcAft>
                <a:spcPts val="800"/>
              </a:spcAft>
              <a:defRPr sz="1600" b="1">
                <a:solidFill>
                  <a:srgbClr val="A2ADFF"/>
                </a:solidFill>
                <a:latin typeface="DejaVu Sans"/>
              </a:defRPr>
            </a:pPr>
            <a:r>
              <a:t>TRUSTED HARNESS</a:t>
            </a:r>
          </a:p>
        </p:txBody>
      </p:sp>
      <p:sp>
        <p:nvSpPr>
          <p:cNvPr id="20" name="TextBox 19"/>
          <p:cNvSpPr txBox="1"/>
          <p:nvPr/>
        </p:nvSpPr>
        <p:spPr>
          <a:xfrm>
            <a:off x="3621024" y="3355848"/>
            <a:ext cx="2139696" cy="1463039"/>
          </a:xfrm>
          <a:prstGeom prst="rect">
            <a:avLst/>
          </a:prstGeom>
          <a:noFill/>
        </p:spPr>
        <p:txBody>
          <a:bodyPr wrap="square" lIns="13716" rIns="13716" tIns="0" bIns="0">
            <a:spAutoFit/>
          </a:bodyPr>
          <a:lstStyle/>
          <a:p>
            <a:pPr>
              <a:spcAft>
                <a:spcPts val="800"/>
              </a:spcAft>
              <a:defRPr sz="1500" b="0">
                <a:solidFill>
                  <a:srgbClr val="EDF4FF"/>
                </a:solidFill>
                <a:latin typeface="DejaVu Sans"/>
              </a:defRPr>
            </a:pPr>
            <a:r>
              <a:t>Model-independent parsing, step/time budgets, private HTTP tool requests and JSONL logs.</a:t>
            </a:r>
          </a:p>
        </p:txBody>
      </p:sp>
      <p:sp>
        <p:nvSpPr>
          <p:cNvPr id="21" name="Rounded Rectangle 20"/>
          <p:cNvSpPr/>
          <p:nvPr/>
        </p:nvSpPr>
        <p:spPr>
          <a:xfrm>
            <a:off x="6227064" y="2514600"/>
            <a:ext cx="2560320" cy="2423160"/>
          </a:xfrm>
          <a:prstGeom prst="roundRect">
            <a:avLst>
              <a:gd name="adj" fmla="val 8000"/>
            </a:avLst>
          </a:prstGeom>
          <a:solidFill>
            <a:srgbClr val="111D30"/>
          </a:solidFill>
          <a:ln>
            <a:solidFill>
              <a:srgbClr val="2435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91655" y="2697480"/>
            <a:ext cx="45720" cy="310896"/>
          </a:xfrm>
          <a:prstGeom prst="rect">
            <a:avLst/>
          </a:prstGeom>
          <a:solidFill>
            <a:srgbClr val="FFC1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56248" y="2724912"/>
            <a:ext cx="2057400" cy="411480"/>
          </a:xfrm>
          <a:prstGeom prst="rect">
            <a:avLst/>
          </a:prstGeom>
          <a:noFill/>
        </p:spPr>
        <p:txBody>
          <a:bodyPr wrap="square" lIns="13716" rIns="13716" tIns="0" bIns="0">
            <a:spAutoFit/>
          </a:bodyPr>
          <a:lstStyle/>
          <a:p>
            <a:pPr>
              <a:spcAft>
                <a:spcPts val="800"/>
              </a:spcAft>
              <a:defRPr sz="1600" b="1">
                <a:solidFill>
                  <a:srgbClr val="FFC177"/>
                </a:solidFill>
                <a:latin typeface="DejaVu Sans"/>
              </a:defRPr>
            </a:pPr>
            <a:r>
              <a:t>MODEL GATEWAY</a:t>
            </a:r>
          </a:p>
        </p:txBody>
      </p:sp>
      <p:sp>
        <p:nvSpPr>
          <p:cNvPr id="24" name="TextBox 23"/>
          <p:cNvSpPr txBox="1"/>
          <p:nvPr/>
        </p:nvSpPr>
        <p:spPr>
          <a:xfrm>
            <a:off x="6437376" y="3355848"/>
            <a:ext cx="2139696" cy="1463039"/>
          </a:xfrm>
          <a:prstGeom prst="rect">
            <a:avLst/>
          </a:prstGeom>
          <a:noFill/>
        </p:spPr>
        <p:txBody>
          <a:bodyPr wrap="square" lIns="13716" rIns="13716" tIns="0" bIns="0">
            <a:spAutoFit/>
          </a:bodyPr>
          <a:lstStyle/>
          <a:p>
            <a:pPr>
              <a:spcAft>
                <a:spcPts val="800"/>
              </a:spcAft>
              <a:defRPr sz="1500" b="0">
                <a:solidFill>
                  <a:srgbClr val="EDF4FF"/>
                </a:solidFill>
                <a:latin typeface="DejaVu Sans"/>
              </a:defRPr>
            </a:pPr>
            <a:r>
              <a:t>Configured endpoints, credential isolation, deadlines and request limits.</a:t>
            </a:r>
          </a:p>
        </p:txBody>
      </p:sp>
      <p:sp>
        <p:nvSpPr>
          <p:cNvPr id="25" name="Rounded Rectangle 24"/>
          <p:cNvSpPr/>
          <p:nvPr/>
        </p:nvSpPr>
        <p:spPr>
          <a:xfrm>
            <a:off x="9043416" y="2514600"/>
            <a:ext cx="2560320" cy="2423160"/>
          </a:xfrm>
          <a:prstGeom prst="roundRect">
            <a:avLst>
              <a:gd name="adj" fmla="val 8000"/>
            </a:avLst>
          </a:prstGeom>
          <a:solidFill>
            <a:srgbClr val="111D30"/>
          </a:solidFill>
          <a:ln>
            <a:solidFill>
              <a:srgbClr val="2435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208008" y="2697480"/>
            <a:ext cx="45720" cy="310896"/>
          </a:xfrm>
          <a:prstGeom prst="rect">
            <a:avLst/>
          </a:prstGeom>
          <a:solidFill>
            <a:srgbClr val="66E6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72600" y="2724912"/>
            <a:ext cx="2057400" cy="411480"/>
          </a:xfrm>
          <a:prstGeom prst="rect">
            <a:avLst/>
          </a:prstGeom>
          <a:noFill/>
        </p:spPr>
        <p:txBody>
          <a:bodyPr wrap="square" lIns="13716" rIns="13716" tIns="0" bIns="0">
            <a:spAutoFit/>
          </a:bodyPr>
          <a:lstStyle/>
          <a:p>
            <a:pPr>
              <a:spcAft>
                <a:spcPts val="800"/>
              </a:spcAft>
              <a:defRPr sz="1600" b="1">
                <a:solidFill>
                  <a:srgbClr val="66E6CD"/>
                </a:solidFill>
                <a:latin typeface="DejaVu Sans"/>
              </a:defRPr>
            </a:pPr>
            <a:r>
              <a:t>AGENT WORKSPACE</a:t>
            </a:r>
          </a:p>
        </p:txBody>
      </p:sp>
      <p:sp>
        <p:nvSpPr>
          <p:cNvPr id="28" name="TextBox 27"/>
          <p:cNvSpPr txBox="1"/>
          <p:nvPr/>
        </p:nvSpPr>
        <p:spPr>
          <a:xfrm>
            <a:off x="9253728" y="3355848"/>
            <a:ext cx="2139696" cy="1463039"/>
          </a:xfrm>
          <a:prstGeom prst="rect">
            <a:avLst/>
          </a:prstGeom>
          <a:noFill/>
        </p:spPr>
        <p:txBody>
          <a:bodyPr wrap="square" lIns="13716" rIns="13716" tIns="0" bIns="0">
            <a:spAutoFit/>
          </a:bodyPr>
          <a:lstStyle/>
          <a:p>
            <a:pPr>
              <a:spcAft>
                <a:spcPts val="800"/>
              </a:spcAft>
              <a:defRPr sz="1500" b="0">
                <a:solidFill>
                  <a:srgbClr val="EDF4FF"/>
                </a:solidFill>
                <a:latin typeface="DejaVu Sans"/>
              </a:defRPr>
            </a:pPr>
            <a:r>
              <a:t>Real shell plus public town CLI; no keys, truth files or external route.</a:t>
            </a:r>
          </a:p>
        </p:txBody>
      </p:sp>
      <p:sp>
        <p:nvSpPr>
          <p:cNvPr id="29" name="TextBox 28"/>
          <p:cNvSpPr txBox="1"/>
          <p:nvPr/>
        </p:nvSpPr>
        <p:spPr>
          <a:xfrm>
            <a:off x="658368" y="5257800"/>
            <a:ext cx="10881360" cy="585216"/>
          </a:xfrm>
          <a:prstGeom prst="rect">
            <a:avLst/>
          </a:prstGeom>
          <a:noFill/>
        </p:spPr>
        <p:txBody>
          <a:bodyPr wrap="square" lIns="13716" rIns="13716" tIns="0" bIns="0">
            <a:spAutoFit/>
          </a:bodyPr>
          <a:lstStyle/>
          <a:p>
            <a:pPr>
              <a:spcAft>
                <a:spcPts val="800"/>
              </a:spcAft>
              <a:defRPr sz="1700" b="0">
                <a:solidFill>
                  <a:srgbClr val="A4B6CD"/>
                </a:solidFill>
                <a:latin typeface="DejaVu Sans"/>
              </a:defRPr>
            </a:pPr>
            <a:r>
              <a:t>Presentation UI: local Python HTTP server + server-sent events. Policy training: CPU REINFORCE over a linear softmax selector; no GPU or LLM fine-tuning.</a:t>
            </a:r>
          </a:p>
        </p:txBody>
      </p:sp>
      <p:sp>
        <p:nvSpPr>
          <p:cNvPr id="30" name="TextBox 29"/>
          <p:cNvSpPr txBox="1"/>
          <p:nvPr/>
        </p:nvSpPr>
        <p:spPr>
          <a:xfrm>
            <a:off x="594360" y="5980176"/>
            <a:ext cx="10972800" cy="320040"/>
          </a:xfrm>
          <a:prstGeom prst="rect">
            <a:avLst/>
          </a:prstGeom>
          <a:noFill/>
        </p:spPr>
        <p:txBody>
          <a:bodyPr wrap="square" lIns="13716" rIns="13716" tIns="0" bIns="0">
            <a:spAutoFit/>
          </a:bodyPr>
          <a:lstStyle/>
          <a:p>
            <a:pPr>
              <a:spcAft>
                <a:spcPts val="800"/>
              </a:spcAft>
              <a:defRPr sz="1100" b="0">
                <a:solidFill>
                  <a:srgbClr val="A4B6CD"/>
                </a:solidFill>
                <a:latin typeface="DejaVu Sans"/>
              </a:defRPr>
            </a:pPr>
            <a:r>
              <a:t>Workspace has no Docker socket, private mounts or control token. Security assumes a trusted host and Docker daemon.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90F1B"/>
        </a:solidFill>
        <a:effectLst/>
      </p:bgPr>
    </p:bg>
    <p:spTree>
      <p:nvGrpSpPr>
        <p:cNvPr id="1" name=""/>
        <p:cNvGrpSpPr/>
        <p:nvPr/>
      </p:nvGrpSpPr>
      <p:grpSpPr/>
      <p:sp>
        <p:nvSpPr>
          <p:cNvPr id="2" name="Rectangle 1"/>
          <p:cNvSpPr/>
          <p:nvPr/>
        </p:nvSpPr>
        <p:spPr>
          <a:xfrm>
            <a:off x="758952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68680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78408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88136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38912" y="347472"/>
            <a:ext cx="91440" cy="146304"/>
          </a:xfrm>
          <a:prstGeom prst="rect">
            <a:avLst/>
          </a:prstGeom>
          <a:solidFill>
            <a:srgbClr val="66E6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8" y="301752"/>
            <a:ext cx="10058400" cy="219456"/>
          </a:xfrm>
          <a:prstGeom prst="rect">
            <a:avLst/>
          </a:prstGeom>
          <a:noFill/>
        </p:spPr>
        <p:txBody>
          <a:bodyPr wrap="square" lIns="13716" rIns="13716" tIns="0" bIns="0">
            <a:spAutoFit/>
          </a:bodyPr>
          <a:lstStyle/>
          <a:p>
            <a:pPr>
              <a:spcAft>
                <a:spcPts val="800"/>
              </a:spcAft>
              <a:defRPr sz="1000" b="1">
                <a:solidFill>
                  <a:srgbClr val="66E6CD"/>
                </a:solidFill>
                <a:latin typeface="DejaVu Sans"/>
              </a:defRPr>
            </a:pPr>
            <a:r>
              <a:t>MERCY HOUSE  /  THE TRAINED POLICY</a:t>
            </a:r>
          </a:p>
        </p:txBody>
      </p:sp>
      <p:sp>
        <p:nvSpPr>
          <p:cNvPr id="8" name="TextBox 7"/>
          <p:cNvSpPr txBox="1"/>
          <p:nvPr/>
        </p:nvSpPr>
        <p:spPr>
          <a:xfrm>
            <a:off x="548640" y="859536"/>
            <a:ext cx="11064240" cy="822960"/>
          </a:xfrm>
          <a:prstGeom prst="rect">
            <a:avLst/>
          </a:prstGeom>
          <a:noFill/>
        </p:spPr>
        <p:txBody>
          <a:bodyPr wrap="square" lIns="13716" rIns="13716" tIns="0" bIns="0">
            <a:spAutoFit/>
          </a:bodyPr>
          <a:lstStyle/>
          <a:p>
            <a:pPr>
              <a:spcAft>
                <a:spcPts val="800"/>
              </a:spcAft>
              <a:defRPr sz="3100" b="1">
                <a:solidFill>
                  <a:srgbClr val="EDF4FF"/>
                </a:solidFill>
                <a:latin typeface="DejaVu Sans"/>
              </a:defRPr>
            </a:pPr>
            <a:r>
              <a:t>RL learns which proposed action to execute.</a:t>
            </a:r>
          </a:p>
        </p:txBody>
      </p:sp>
      <p:sp>
        <p:nvSpPr>
          <p:cNvPr id="9" name="TextBox 8"/>
          <p:cNvSpPr txBox="1"/>
          <p:nvPr/>
        </p:nvSpPr>
        <p:spPr>
          <a:xfrm>
            <a:off x="566928" y="1691640"/>
            <a:ext cx="10972800" cy="594360"/>
          </a:xfrm>
          <a:prstGeom prst="rect">
            <a:avLst/>
          </a:prstGeom>
          <a:noFill/>
        </p:spPr>
        <p:txBody>
          <a:bodyPr wrap="square" lIns="13716" rIns="13716" tIns="0" bIns="0">
            <a:spAutoFit/>
          </a:bodyPr>
          <a:lstStyle/>
          <a:p>
            <a:pPr>
              <a:spcAft>
                <a:spcPts val="800"/>
              </a:spcAft>
              <a:defRPr sz="1500" b="0">
                <a:solidFill>
                  <a:srgbClr val="A4B6CD"/>
                </a:solidFill>
                <a:latin typeface="DejaVu Sans"/>
              </a:defRPr>
            </a:pPr>
            <a:r>
              <a:t>Optional research policy: a compact learned selector ranks actions using public features. The native UI/judging detective remains independent.</a:t>
            </a:r>
          </a:p>
        </p:txBody>
      </p:sp>
      <p:sp>
        <p:nvSpPr>
          <p:cNvPr id="10" name="Rectangle 9"/>
          <p:cNvSpPr/>
          <p:nvPr/>
        </p:nvSpPr>
        <p:spPr>
          <a:xfrm>
            <a:off x="548640" y="6428232"/>
            <a:ext cx="11064240" cy="10972"/>
          </a:xfrm>
          <a:prstGeom prst="rect">
            <a:avLst/>
          </a:prstGeom>
          <a:solidFill>
            <a:srgbClr val="2435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6537960"/>
            <a:ext cx="10332720" cy="201168"/>
          </a:xfrm>
          <a:prstGeom prst="rect">
            <a:avLst/>
          </a:prstGeom>
          <a:noFill/>
        </p:spPr>
        <p:txBody>
          <a:bodyPr wrap="square" lIns="13716" rIns="13716" tIns="0" bIns="0">
            <a:spAutoFit/>
          </a:bodyPr>
          <a:lstStyle/>
          <a:p>
            <a:pPr>
              <a:spcAft>
                <a:spcPts val="800"/>
              </a:spcAft>
              <a:defRPr sz="800" b="0">
                <a:solidFill>
                  <a:srgbClr val="A4B6CD"/>
                </a:solidFill>
                <a:latin typeface="DejaVu Sans"/>
              </a:defRPr>
            </a:pPr>
            <a:r>
              <a:t>KASUKABE DEFENCE FORCE  •  RL ENVIRONMENT HACKATHON</a:t>
            </a:r>
          </a:p>
        </p:txBody>
      </p:sp>
      <p:sp>
        <p:nvSpPr>
          <p:cNvPr id="12" name="TextBox 11"/>
          <p:cNvSpPr txBox="1"/>
          <p:nvPr/>
        </p:nvSpPr>
        <p:spPr>
          <a:xfrm>
            <a:off x="10972800" y="6510528"/>
            <a:ext cx="640080" cy="228600"/>
          </a:xfrm>
          <a:prstGeom prst="rect">
            <a:avLst/>
          </a:prstGeom>
          <a:noFill/>
        </p:spPr>
        <p:txBody>
          <a:bodyPr wrap="square" lIns="13716" rIns="13716" tIns="0" bIns="0">
            <a:spAutoFit/>
          </a:bodyPr>
          <a:lstStyle/>
          <a:p>
            <a:pPr>
              <a:spcAft>
                <a:spcPts val="800"/>
              </a:spcAft>
              <a:defRPr sz="900" b="0">
                <a:solidFill>
                  <a:srgbClr val="66E6CD"/>
                </a:solidFill>
                <a:latin typeface="DejaVu Sans"/>
              </a:defRPr>
            </a:pPr>
            <a:r>
              <a:t>08 / 14</a:t>
            </a:r>
          </a:p>
        </p:txBody>
      </p:sp>
      <p:sp>
        <p:nvSpPr>
          <p:cNvPr id="13" name="Rounded Rectangle 12"/>
          <p:cNvSpPr/>
          <p:nvPr/>
        </p:nvSpPr>
        <p:spPr>
          <a:xfrm>
            <a:off x="594360" y="2514600"/>
            <a:ext cx="3575304" cy="2423160"/>
          </a:xfrm>
          <a:prstGeom prst="roundRect">
            <a:avLst>
              <a:gd name="adj" fmla="val 8000"/>
            </a:avLst>
          </a:prstGeom>
          <a:solidFill>
            <a:srgbClr val="111D30"/>
          </a:solidFill>
          <a:ln>
            <a:solidFill>
              <a:srgbClr val="2435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58952" y="2697480"/>
            <a:ext cx="45720" cy="310896"/>
          </a:xfrm>
          <a:prstGeom prst="rect">
            <a:avLst/>
          </a:prstGeom>
          <a:solidFill>
            <a:srgbClr val="66E6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3544" y="2724912"/>
            <a:ext cx="3072384" cy="411480"/>
          </a:xfrm>
          <a:prstGeom prst="rect">
            <a:avLst/>
          </a:prstGeom>
          <a:noFill/>
        </p:spPr>
        <p:txBody>
          <a:bodyPr wrap="square" lIns="13716" rIns="13716" tIns="0" bIns="0">
            <a:spAutoFit/>
          </a:bodyPr>
          <a:lstStyle/>
          <a:p>
            <a:pPr>
              <a:spcAft>
                <a:spcPts val="800"/>
              </a:spcAft>
              <a:defRPr sz="1600" b="1">
                <a:solidFill>
                  <a:srgbClr val="66E6CD"/>
                </a:solidFill>
                <a:latin typeface="DejaVu Sans"/>
              </a:defRPr>
            </a:pPr>
            <a:r>
              <a:t>OBSERVED STATE</a:t>
            </a:r>
          </a:p>
        </p:txBody>
      </p:sp>
      <p:sp>
        <p:nvSpPr>
          <p:cNvPr id="16" name="TextBox 15"/>
          <p:cNvSpPr txBox="1"/>
          <p:nvPr/>
        </p:nvSpPr>
        <p:spPr>
          <a:xfrm>
            <a:off x="804672" y="3355848"/>
            <a:ext cx="3154680" cy="1463039"/>
          </a:xfrm>
          <a:prstGeom prst="rect">
            <a:avLst/>
          </a:prstGeom>
          <a:noFill/>
        </p:spPr>
        <p:txBody>
          <a:bodyPr wrap="square" lIns="13716" rIns="13716" tIns="0" bIns="0">
            <a:spAutoFit/>
          </a:bodyPr>
          <a:lstStyle/>
          <a:p>
            <a:pPr>
              <a:spcAft>
                <a:spcPts val="800"/>
              </a:spcAft>
              <a:defRPr sz="1700" b="0">
                <a:solidFill>
                  <a:srgbClr val="EDF4FF"/>
                </a:solidFill>
                <a:latin typeface="DejaVu Sans"/>
              </a:defRPr>
            </a:pPr>
            <a:r>
              <a:t>Acquired records, comparisons, interviews, repeat attempts and steps left.</a:t>
            </a:r>
          </a:p>
        </p:txBody>
      </p:sp>
      <p:sp>
        <p:nvSpPr>
          <p:cNvPr id="17" name="Rounded Rectangle 16"/>
          <p:cNvSpPr/>
          <p:nvPr/>
        </p:nvSpPr>
        <p:spPr>
          <a:xfrm>
            <a:off x="4370832" y="2514600"/>
            <a:ext cx="3575304" cy="2423160"/>
          </a:xfrm>
          <a:prstGeom prst="roundRect">
            <a:avLst>
              <a:gd name="adj" fmla="val 8000"/>
            </a:avLst>
          </a:prstGeom>
          <a:solidFill>
            <a:srgbClr val="111D30"/>
          </a:solidFill>
          <a:ln>
            <a:solidFill>
              <a:srgbClr val="2435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35424" y="2697480"/>
            <a:ext cx="45720" cy="310896"/>
          </a:xfrm>
          <a:prstGeom prst="rect">
            <a:avLst/>
          </a:prstGeom>
          <a:solidFill>
            <a:srgbClr val="A2A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00016" y="2724912"/>
            <a:ext cx="3072384" cy="411480"/>
          </a:xfrm>
          <a:prstGeom prst="rect">
            <a:avLst/>
          </a:prstGeom>
          <a:noFill/>
        </p:spPr>
        <p:txBody>
          <a:bodyPr wrap="square" lIns="13716" rIns="13716" tIns="0" bIns="0">
            <a:spAutoFit/>
          </a:bodyPr>
          <a:lstStyle/>
          <a:p>
            <a:pPr>
              <a:spcAft>
                <a:spcPts val="800"/>
              </a:spcAft>
              <a:defRPr sz="1600" b="1">
                <a:solidFill>
                  <a:srgbClr val="A2ADFF"/>
                </a:solidFill>
                <a:latin typeface="DejaVu Sans"/>
              </a:defRPr>
            </a:pPr>
            <a:r>
              <a:t>CANDIDATE ACTIONS</a:t>
            </a:r>
          </a:p>
        </p:txBody>
      </p:sp>
      <p:sp>
        <p:nvSpPr>
          <p:cNvPr id="20" name="TextBox 19"/>
          <p:cNvSpPr txBox="1"/>
          <p:nvPr/>
        </p:nvSpPr>
        <p:spPr>
          <a:xfrm>
            <a:off x="4581144" y="3355848"/>
            <a:ext cx="3154680" cy="1463039"/>
          </a:xfrm>
          <a:prstGeom prst="rect">
            <a:avLst/>
          </a:prstGeom>
          <a:noFill/>
        </p:spPr>
        <p:txBody>
          <a:bodyPr wrap="square" lIns="13716" rIns="13716" tIns="0" bIns="0">
            <a:spAutoFit/>
          </a:bodyPr>
          <a:lstStyle/>
          <a:p>
            <a:pPr>
              <a:spcAft>
                <a:spcPts val="800"/>
              </a:spcAft>
              <a:defRPr sz="1700" b="0">
                <a:solidFill>
                  <a:srgbClr val="EDF4FF"/>
                </a:solidFill>
                <a:latin typeface="DejaVu Sans"/>
              </a:defRPr>
            </a:pPr>
            <a:r>
              <a:t>An authored public proposer during CPU training; an LLM proposer during transfer tests.</a:t>
            </a:r>
          </a:p>
        </p:txBody>
      </p:sp>
      <p:sp>
        <p:nvSpPr>
          <p:cNvPr id="21" name="Rounded Rectangle 20"/>
          <p:cNvSpPr/>
          <p:nvPr/>
        </p:nvSpPr>
        <p:spPr>
          <a:xfrm>
            <a:off x="8147304" y="2514600"/>
            <a:ext cx="3575304" cy="2423160"/>
          </a:xfrm>
          <a:prstGeom prst="roundRect">
            <a:avLst>
              <a:gd name="adj" fmla="val 8000"/>
            </a:avLst>
          </a:prstGeom>
          <a:solidFill>
            <a:srgbClr val="111D30"/>
          </a:solidFill>
          <a:ln>
            <a:solidFill>
              <a:srgbClr val="2435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11896" y="2697480"/>
            <a:ext cx="45720" cy="310896"/>
          </a:xfrm>
          <a:prstGeom prst="rect">
            <a:avLst/>
          </a:prstGeom>
          <a:solidFill>
            <a:srgbClr val="FFC1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76488" y="2724912"/>
            <a:ext cx="3072384" cy="411480"/>
          </a:xfrm>
          <a:prstGeom prst="rect">
            <a:avLst/>
          </a:prstGeom>
          <a:noFill/>
        </p:spPr>
        <p:txBody>
          <a:bodyPr wrap="square" lIns="13716" rIns="13716" tIns="0" bIns="0">
            <a:spAutoFit/>
          </a:bodyPr>
          <a:lstStyle/>
          <a:p>
            <a:pPr>
              <a:spcAft>
                <a:spcPts val="800"/>
              </a:spcAft>
              <a:defRPr sz="1600" b="1">
                <a:solidFill>
                  <a:srgbClr val="FFC177"/>
                </a:solidFill>
                <a:latin typeface="DejaVu Sans"/>
              </a:defRPr>
            </a:pPr>
            <a:r>
              <a:t>LEARNED SELECTOR</a:t>
            </a:r>
          </a:p>
        </p:txBody>
      </p:sp>
      <p:sp>
        <p:nvSpPr>
          <p:cNvPr id="24" name="TextBox 23"/>
          <p:cNvSpPr txBox="1"/>
          <p:nvPr/>
        </p:nvSpPr>
        <p:spPr>
          <a:xfrm>
            <a:off x="8357616" y="3355848"/>
            <a:ext cx="3154680" cy="1463039"/>
          </a:xfrm>
          <a:prstGeom prst="rect">
            <a:avLst/>
          </a:prstGeom>
          <a:noFill/>
        </p:spPr>
        <p:txBody>
          <a:bodyPr wrap="square" lIns="13716" rIns="13716" tIns="0" bIns="0">
            <a:spAutoFit/>
          </a:bodyPr>
          <a:lstStyle/>
          <a:p>
            <a:pPr>
              <a:spcAft>
                <a:spcPts val="800"/>
              </a:spcAft>
              <a:defRPr sz="1700" b="0">
                <a:solidFill>
                  <a:srgbClr val="EDF4FF"/>
                </a:solidFill>
                <a:latin typeface="DejaVu Sans"/>
              </a:defRPr>
            </a:pPr>
            <a:r>
              <a:t>Scores features, produces action probabilities, and executes one choice.</a:t>
            </a:r>
          </a:p>
        </p:txBody>
      </p:sp>
      <p:sp>
        <p:nvSpPr>
          <p:cNvPr id="25" name="TextBox 24"/>
          <p:cNvSpPr txBox="1"/>
          <p:nvPr/>
        </p:nvSpPr>
        <p:spPr>
          <a:xfrm>
            <a:off x="667512" y="5303520"/>
            <a:ext cx="10835640" cy="521207"/>
          </a:xfrm>
          <a:prstGeom prst="rect">
            <a:avLst/>
          </a:prstGeom>
          <a:noFill/>
        </p:spPr>
        <p:txBody>
          <a:bodyPr wrap="square" lIns="13716" rIns="13716" tIns="0" bIns="0">
            <a:spAutoFit/>
          </a:bodyPr>
          <a:lstStyle/>
          <a:p>
            <a:pPr>
              <a:spcAft>
                <a:spcPts val="800"/>
              </a:spcAft>
              <a:defRPr sz="1800" b="0">
                <a:solidFill>
                  <a:srgbClr val="A4B6CD"/>
                </a:solidFill>
                <a:latin typeface="DejaVu Sans"/>
              </a:defRPr>
            </a:pPr>
            <a:r>
              <a:t>REINFORCE raises the probability of action sequences that earn a valid terminal exercise reward, relative to a running baseline.</a:t>
            </a:r>
          </a:p>
        </p:txBody>
      </p:sp>
      <p:sp>
        <p:nvSpPr>
          <p:cNvPr id="26" name="TextBox 25"/>
          <p:cNvSpPr txBox="1"/>
          <p:nvPr/>
        </p:nvSpPr>
        <p:spPr>
          <a:xfrm>
            <a:off x="594360" y="5980176"/>
            <a:ext cx="10972800" cy="320040"/>
          </a:xfrm>
          <a:prstGeom prst="rect">
            <a:avLst/>
          </a:prstGeom>
          <a:noFill/>
        </p:spPr>
        <p:txBody>
          <a:bodyPr wrap="square" lIns="13716" rIns="13716" tIns="0" bIns="0">
            <a:spAutoFit/>
          </a:bodyPr>
          <a:lstStyle/>
          <a:p>
            <a:pPr>
              <a:spcAft>
                <a:spcPts val="800"/>
              </a:spcAft>
              <a:defRPr sz="1100" b="0">
                <a:solidFill>
                  <a:srgbClr val="A4B6CD"/>
                </a:solidFill>
                <a:latin typeface="DejaVu Sans"/>
              </a:defRPr>
            </a:pPr>
            <a:r>
              <a:t>Earlier prototype: 20,000 episodes / 460 weights. Fresh source curriculum: 6,000 episodes / 132 weights. Language-model weights stay fixed.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90F1B"/>
        </a:solidFill>
        <a:effectLst/>
      </p:bgPr>
    </p:bg>
    <p:spTree>
      <p:nvGrpSpPr>
        <p:cNvPr id="1" name=""/>
        <p:cNvGrpSpPr/>
        <p:nvPr/>
      </p:nvGrpSpPr>
      <p:grpSpPr/>
      <p:sp>
        <p:nvSpPr>
          <p:cNvPr id="2" name="Rectangle 1"/>
          <p:cNvSpPr/>
          <p:nvPr/>
        </p:nvSpPr>
        <p:spPr>
          <a:xfrm>
            <a:off x="758952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68680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78408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88136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38912" y="347472"/>
            <a:ext cx="91440" cy="146304"/>
          </a:xfrm>
          <a:prstGeom prst="rect">
            <a:avLst/>
          </a:prstGeom>
          <a:solidFill>
            <a:srgbClr val="66E6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8" y="301752"/>
            <a:ext cx="10058400" cy="219456"/>
          </a:xfrm>
          <a:prstGeom prst="rect">
            <a:avLst/>
          </a:prstGeom>
          <a:noFill/>
        </p:spPr>
        <p:txBody>
          <a:bodyPr wrap="square" lIns="13716" rIns="13716" tIns="0" bIns="0">
            <a:spAutoFit/>
          </a:bodyPr>
          <a:lstStyle/>
          <a:p>
            <a:pPr>
              <a:spcAft>
                <a:spcPts val="800"/>
              </a:spcAft>
              <a:defRPr sz="1000" b="1">
                <a:solidFill>
                  <a:srgbClr val="66E6CD"/>
                </a:solidFill>
                <a:latin typeface="DejaVu Sans"/>
              </a:defRPr>
            </a:pPr>
            <a:r>
              <a:t>MERCY HOUSE  /  SOURCED INSPIRATION, ORIGINAL INTERACTIVE TRAINING</a:t>
            </a:r>
          </a:p>
        </p:txBody>
      </p:sp>
      <p:sp>
        <p:nvSpPr>
          <p:cNvPr id="8" name="TextBox 7"/>
          <p:cNvSpPr txBox="1"/>
          <p:nvPr/>
        </p:nvSpPr>
        <p:spPr>
          <a:xfrm>
            <a:off x="548640" y="859536"/>
            <a:ext cx="11064240" cy="822960"/>
          </a:xfrm>
          <a:prstGeom prst="rect">
            <a:avLst/>
          </a:prstGeom>
          <a:noFill/>
        </p:spPr>
        <p:txBody>
          <a:bodyPr wrap="square" lIns="13716" rIns="13716" tIns="0" bIns="0">
            <a:spAutoFit/>
          </a:bodyPr>
          <a:lstStyle/>
          <a:p>
            <a:pPr>
              <a:spcAft>
                <a:spcPts val="800"/>
              </a:spcAft>
              <a:defRPr sz="3100" b="1">
                <a:solidFill>
                  <a:srgbClr val="EDF4FF"/>
                </a:solidFill>
                <a:latin typeface="DejaVu Sans"/>
              </a:defRPr>
            </a:pPr>
            <a:r>
              <a:t>Three mechanisms become practice exercises.</a:t>
            </a:r>
          </a:p>
        </p:txBody>
      </p:sp>
      <p:sp>
        <p:nvSpPr>
          <p:cNvPr id="9" name="TextBox 8"/>
          <p:cNvSpPr txBox="1"/>
          <p:nvPr/>
        </p:nvSpPr>
        <p:spPr>
          <a:xfrm>
            <a:off x="566928" y="1691640"/>
            <a:ext cx="10972800" cy="594360"/>
          </a:xfrm>
          <a:prstGeom prst="rect">
            <a:avLst/>
          </a:prstGeom>
          <a:noFill/>
        </p:spPr>
        <p:txBody>
          <a:bodyPr wrap="square" lIns="13716" rIns="13716" tIns="0" bIns="0">
            <a:spAutoFit/>
          </a:bodyPr>
          <a:lstStyle/>
          <a:p>
            <a:pPr>
              <a:spcAft>
                <a:spcPts val="800"/>
              </a:spcAft>
              <a:defRPr sz="1500" b="0">
                <a:solidFill>
                  <a:srgbClr val="A4B6CD"/>
                </a:solidFill>
                <a:latin typeface="DejaVu Sans"/>
              </a:defRPr>
            </a:pPr>
            <a:r>
              <a:t>Original renamed checkpoint scenarios reuse the tested world mechanics. They do not reproduce TV scripts or complete episodes.</a:t>
            </a:r>
          </a:p>
        </p:txBody>
      </p:sp>
      <p:sp>
        <p:nvSpPr>
          <p:cNvPr id="10" name="Rectangle 9"/>
          <p:cNvSpPr/>
          <p:nvPr/>
        </p:nvSpPr>
        <p:spPr>
          <a:xfrm>
            <a:off x="548640" y="6428232"/>
            <a:ext cx="11064240" cy="10972"/>
          </a:xfrm>
          <a:prstGeom prst="rect">
            <a:avLst/>
          </a:prstGeom>
          <a:solidFill>
            <a:srgbClr val="2435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6537960"/>
            <a:ext cx="10332720" cy="201168"/>
          </a:xfrm>
          <a:prstGeom prst="rect">
            <a:avLst/>
          </a:prstGeom>
          <a:noFill/>
        </p:spPr>
        <p:txBody>
          <a:bodyPr wrap="square" lIns="13716" rIns="13716" tIns="0" bIns="0">
            <a:spAutoFit/>
          </a:bodyPr>
          <a:lstStyle/>
          <a:p>
            <a:pPr>
              <a:spcAft>
                <a:spcPts val="800"/>
              </a:spcAft>
              <a:defRPr sz="800" b="0">
                <a:solidFill>
                  <a:srgbClr val="A4B6CD"/>
                </a:solidFill>
                <a:latin typeface="DejaVu Sans"/>
              </a:defRPr>
            </a:pPr>
            <a:r>
              <a:t>KASUKABE DEFENCE FORCE  •  RL ENVIRONMENT HACKATHON</a:t>
            </a:r>
          </a:p>
        </p:txBody>
      </p:sp>
      <p:sp>
        <p:nvSpPr>
          <p:cNvPr id="12" name="TextBox 11"/>
          <p:cNvSpPr txBox="1"/>
          <p:nvPr/>
        </p:nvSpPr>
        <p:spPr>
          <a:xfrm>
            <a:off x="10972800" y="6510528"/>
            <a:ext cx="640080" cy="228600"/>
          </a:xfrm>
          <a:prstGeom prst="rect">
            <a:avLst/>
          </a:prstGeom>
          <a:noFill/>
        </p:spPr>
        <p:txBody>
          <a:bodyPr wrap="square" lIns="13716" rIns="13716" tIns="0" bIns="0">
            <a:spAutoFit/>
          </a:bodyPr>
          <a:lstStyle/>
          <a:p>
            <a:pPr>
              <a:spcAft>
                <a:spcPts val="800"/>
              </a:spcAft>
              <a:defRPr sz="900" b="0">
                <a:solidFill>
                  <a:srgbClr val="66E6CD"/>
                </a:solidFill>
                <a:latin typeface="DejaVu Sans"/>
              </a:defRPr>
            </a:pPr>
            <a:r>
              <a:t>09 / 14</a:t>
            </a:r>
          </a:p>
        </p:txBody>
      </p:sp>
      <p:sp>
        <p:nvSpPr>
          <p:cNvPr id="13" name="Rounded Rectangle 12"/>
          <p:cNvSpPr/>
          <p:nvPr/>
        </p:nvSpPr>
        <p:spPr>
          <a:xfrm>
            <a:off x="594360" y="2514600"/>
            <a:ext cx="3575304" cy="2377440"/>
          </a:xfrm>
          <a:prstGeom prst="roundRect">
            <a:avLst>
              <a:gd name="adj" fmla="val 8000"/>
            </a:avLst>
          </a:prstGeom>
          <a:solidFill>
            <a:srgbClr val="111D30"/>
          </a:solidFill>
          <a:ln>
            <a:solidFill>
              <a:srgbClr val="2435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58952" y="2697480"/>
            <a:ext cx="45720" cy="310896"/>
          </a:xfrm>
          <a:prstGeom prst="rect">
            <a:avLst/>
          </a:prstGeom>
          <a:solidFill>
            <a:srgbClr val="66E6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3544" y="2724912"/>
            <a:ext cx="3072384" cy="411480"/>
          </a:xfrm>
          <a:prstGeom prst="rect">
            <a:avLst/>
          </a:prstGeom>
          <a:noFill/>
        </p:spPr>
        <p:txBody>
          <a:bodyPr wrap="square" lIns="13716" rIns="13716" tIns="0" bIns="0">
            <a:spAutoFit/>
          </a:bodyPr>
          <a:lstStyle/>
          <a:p>
            <a:pPr>
              <a:spcAft>
                <a:spcPts val="800"/>
              </a:spcAft>
              <a:defRPr sz="1600" b="1">
                <a:solidFill>
                  <a:srgbClr val="66E6CD"/>
                </a:solidFill>
                <a:latin typeface="DejaVu Sans"/>
              </a:defRPr>
            </a:pPr>
            <a:r>
              <a:t>INTENDED TARGET</a:t>
            </a:r>
          </a:p>
        </p:txBody>
      </p:sp>
      <p:sp>
        <p:nvSpPr>
          <p:cNvPr id="16" name="TextBox 15"/>
          <p:cNvSpPr txBox="1"/>
          <p:nvPr/>
        </p:nvSpPr>
        <p:spPr>
          <a:xfrm>
            <a:off x="804672" y="3355848"/>
            <a:ext cx="3154680" cy="1417320"/>
          </a:xfrm>
          <a:prstGeom prst="rect">
            <a:avLst/>
          </a:prstGeom>
          <a:noFill/>
        </p:spPr>
        <p:txBody>
          <a:bodyPr wrap="square" lIns="13716" rIns="13716" tIns="0" bIns="0">
            <a:spAutoFit/>
          </a:bodyPr>
          <a:lstStyle/>
          <a:p>
            <a:pPr>
              <a:spcAft>
                <a:spcPts val="800"/>
              </a:spcAft>
              <a:defRPr sz="1700" b="0">
                <a:solidFill>
                  <a:srgbClr val="EDF4FF"/>
                </a:solidFill>
                <a:latin typeface="DejaVu Sans"/>
              </a:defRPr>
            </a:pPr>
            <a:r>
              <a:t>The Mentalist S1E8</a:t>
            </a:r>
          </a:p>
          <a:p>
            <a:pPr>
              <a:spcAft>
                <a:spcPts val="800"/>
              </a:spcAft>
              <a:defRPr sz="1700" b="0">
                <a:solidFill>
                  <a:srgbClr val="EDF4FF"/>
                </a:solidFill>
                <a:latin typeface="DejaVu Sans"/>
              </a:defRPr>
            </a:pPr>
            <a:r>
              <a:t>Separate the person targeted from the other casualty.</a:t>
            </a:r>
          </a:p>
        </p:txBody>
      </p:sp>
      <p:sp>
        <p:nvSpPr>
          <p:cNvPr id="17" name="Rounded Rectangle 16"/>
          <p:cNvSpPr/>
          <p:nvPr/>
        </p:nvSpPr>
        <p:spPr>
          <a:xfrm>
            <a:off x="4370832" y="2514600"/>
            <a:ext cx="3575304" cy="2377440"/>
          </a:xfrm>
          <a:prstGeom prst="roundRect">
            <a:avLst>
              <a:gd name="adj" fmla="val 8000"/>
            </a:avLst>
          </a:prstGeom>
          <a:solidFill>
            <a:srgbClr val="111D30"/>
          </a:solidFill>
          <a:ln>
            <a:solidFill>
              <a:srgbClr val="2435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35424" y="2697480"/>
            <a:ext cx="45720" cy="310896"/>
          </a:xfrm>
          <a:prstGeom prst="rect">
            <a:avLst/>
          </a:prstGeom>
          <a:solidFill>
            <a:srgbClr val="A2A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00016" y="2724912"/>
            <a:ext cx="3072384" cy="411480"/>
          </a:xfrm>
          <a:prstGeom prst="rect">
            <a:avLst/>
          </a:prstGeom>
          <a:noFill/>
        </p:spPr>
        <p:txBody>
          <a:bodyPr wrap="square" lIns="13716" rIns="13716" tIns="0" bIns="0">
            <a:spAutoFit/>
          </a:bodyPr>
          <a:lstStyle/>
          <a:p>
            <a:pPr>
              <a:spcAft>
                <a:spcPts val="800"/>
              </a:spcAft>
              <a:defRPr sz="1600" b="1">
                <a:solidFill>
                  <a:srgbClr val="A2ADFF"/>
                </a:solidFill>
                <a:latin typeface="DejaVu Sans"/>
              </a:defRPr>
            </a:pPr>
            <a:r>
              <a:t>APPARENT FOREKNOWLEDGE</a:t>
            </a:r>
          </a:p>
        </p:txBody>
      </p:sp>
      <p:sp>
        <p:nvSpPr>
          <p:cNvPr id="20" name="TextBox 19"/>
          <p:cNvSpPr txBox="1"/>
          <p:nvPr/>
        </p:nvSpPr>
        <p:spPr>
          <a:xfrm>
            <a:off x="4581144" y="3355848"/>
            <a:ext cx="3154680" cy="1417320"/>
          </a:xfrm>
          <a:prstGeom prst="rect">
            <a:avLst/>
          </a:prstGeom>
          <a:noFill/>
        </p:spPr>
        <p:txBody>
          <a:bodyPr wrap="square" lIns="13716" rIns="13716" tIns="0" bIns="0">
            <a:spAutoFit/>
          </a:bodyPr>
          <a:lstStyle/>
          <a:p>
            <a:pPr>
              <a:spcAft>
                <a:spcPts val="800"/>
              </a:spcAft>
              <a:defRPr sz="1700" b="0">
                <a:solidFill>
                  <a:srgbClr val="EDF4FF"/>
                </a:solidFill>
                <a:latin typeface="DejaVu Sans"/>
              </a:defRPr>
            </a:pPr>
            <a:r>
              <a:t>The Mentalist S1E7</a:t>
            </a:r>
          </a:p>
          <a:p>
            <a:pPr>
              <a:spcAft>
                <a:spcPts val="800"/>
              </a:spcAft>
              <a:defRPr sz="1700" b="0">
                <a:solidFill>
                  <a:srgbClr val="EDF4FF"/>
                </a:solidFill>
                <a:latin typeface="DejaVu Sans"/>
              </a:defRPr>
            </a:pPr>
            <a:r>
              <a:t>Test authorship; prediction alone does not establish murder.</a:t>
            </a:r>
          </a:p>
        </p:txBody>
      </p:sp>
      <p:sp>
        <p:nvSpPr>
          <p:cNvPr id="21" name="Rounded Rectangle 20"/>
          <p:cNvSpPr/>
          <p:nvPr/>
        </p:nvSpPr>
        <p:spPr>
          <a:xfrm>
            <a:off x="8147304" y="2514600"/>
            <a:ext cx="3575304" cy="2377440"/>
          </a:xfrm>
          <a:prstGeom prst="roundRect">
            <a:avLst>
              <a:gd name="adj" fmla="val 8000"/>
            </a:avLst>
          </a:prstGeom>
          <a:solidFill>
            <a:srgbClr val="111D30"/>
          </a:solidFill>
          <a:ln>
            <a:solidFill>
              <a:srgbClr val="2435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11896" y="2697480"/>
            <a:ext cx="45720" cy="310896"/>
          </a:xfrm>
          <a:prstGeom prst="rect">
            <a:avLst/>
          </a:prstGeom>
          <a:solidFill>
            <a:srgbClr val="FFC1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76488" y="2724912"/>
            <a:ext cx="3072384" cy="411480"/>
          </a:xfrm>
          <a:prstGeom prst="rect">
            <a:avLst/>
          </a:prstGeom>
          <a:noFill/>
        </p:spPr>
        <p:txBody>
          <a:bodyPr wrap="square" lIns="13716" rIns="13716" tIns="0" bIns="0">
            <a:spAutoFit/>
          </a:bodyPr>
          <a:lstStyle/>
          <a:p>
            <a:pPr>
              <a:spcAft>
                <a:spcPts val="800"/>
              </a:spcAft>
              <a:defRPr sz="1600" b="1">
                <a:solidFill>
                  <a:srgbClr val="FFC177"/>
                </a:solidFill>
                <a:latin typeface="DejaVu Sans"/>
              </a:defRPr>
            </a:pPr>
            <a:r>
              <a:t>TRUSTED RELATIVE</a:t>
            </a:r>
          </a:p>
        </p:txBody>
      </p:sp>
      <p:sp>
        <p:nvSpPr>
          <p:cNvPr id="24" name="TextBox 23"/>
          <p:cNvSpPr txBox="1"/>
          <p:nvPr/>
        </p:nvSpPr>
        <p:spPr>
          <a:xfrm>
            <a:off x="8357616" y="3355848"/>
            <a:ext cx="3154680" cy="1417320"/>
          </a:xfrm>
          <a:prstGeom prst="rect">
            <a:avLst/>
          </a:prstGeom>
          <a:noFill/>
        </p:spPr>
        <p:txBody>
          <a:bodyPr wrap="square" lIns="13716" rIns="13716" tIns="0" bIns="0">
            <a:spAutoFit/>
          </a:bodyPr>
          <a:lstStyle/>
          <a:p>
            <a:pPr>
              <a:spcAft>
                <a:spcPts val="800"/>
              </a:spcAft>
              <a:defRPr sz="1700" b="0">
                <a:solidFill>
                  <a:srgbClr val="EDF4FF"/>
                </a:solidFill>
                <a:latin typeface="DejaVu Sans"/>
              </a:defRPr>
            </a:pPr>
            <a:r>
              <a:t>His &amp; Hers</a:t>
            </a:r>
          </a:p>
          <a:p>
            <a:pPr>
              <a:spcAft>
                <a:spcPts val="800"/>
              </a:spcAft>
              <a:defRPr sz="1700" b="0">
                <a:solidFill>
                  <a:srgbClr val="EDF4FF"/>
                </a:solidFill>
                <a:latin typeface="DejaVu Sans"/>
              </a:defRPr>
            </a:pPr>
            <a:r>
              <a:t>Check a familiar parent against evidence rather than loyalty or rumour.</a:t>
            </a:r>
          </a:p>
        </p:txBody>
      </p:sp>
      <p:sp>
        <p:nvSpPr>
          <p:cNvPr id="25" name="TextBox 24"/>
          <p:cNvSpPr txBox="1"/>
          <p:nvPr/>
        </p:nvSpPr>
        <p:spPr>
          <a:xfrm>
            <a:off x="658368" y="5285232"/>
            <a:ext cx="10881360" cy="566928"/>
          </a:xfrm>
          <a:prstGeom prst="rect">
            <a:avLst/>
          </a:prstGeom>
          <a:noFill/>
        </p:spPr>
        <p:txBody>
          <a:bodyPr wrap="square" lIns="13716" rIns="13716" tIns="0" bIns="0">
            <a:spAutoFit/>
          </a:bodyPr>
          <a:lstStyle/>
          <a:p>
            <a:pPr>
              <a:spcAft>
                <a:spcPts val="800"/>
              </a:spcAft>
              <a:defRPr sz="1700" b="0">
                <a:solidFill>
                  <a:srgbClr val="A4B6CD"/>
                </a:solidFill>
                <a:latin typeface="DejaVu Sans"/>
              </a:defRPr>
            </a:pPr>
            <a:r>
              <a:t>Both culprit assignments occur. Training starts from zero; the elite Mercy House cases are excluded from this new curriculum.</a:t>
            </a:r>
          </a:p>
        </p:txBody>
      </p:sp>
      <p:sp>
        <p:nvSpPr>
          <p:cNvPr id="26" name="TextBox 25"/>
          <p:cNvSpPr txBox="1"/>
          <p:nvPr/>
        </p:nvSpPr>
        <p:spPr>
          <a:xfrm>
            <a:off x="594360" y="5980176"/>
            <a:ext cx="10972800" cy="320040"/>
          </a:xfrm>
          <a:prstGeom prst="rect">
            <a:avLst/>
          </a:prstGeom>
          <a:noFill/>
        </p:spPr>
        <p:txBody>
          <a:bodyPr wrap="square" lIns="13716" rIns="13716" tIns="0" bIns="0">
            <a:spAutoFit/>
          </a:bodyPr>
          <a:lstStyle/>
          <a:p>
            <a:pPr>
              <a:spcAft>
                <a:spcPts val="800"/>
              </a:spcAft>
              <a:defRPr sz="1100" b="0">
                <a:solidFill>
                  <a:srgbClr val="A4B6CD"/>
                </a:solidFill>
                <a:latin typeface="DejaVu Sans"/>
              </a:defRPr>
            </a:pPr>
            <a:r>
              <a:t>Sources credited in SOURCE_TRAINING_REPORT.md. Some materials are acquired before these checkpoints begin; this is skill training.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90F1B"/>
        </a:solidFill>
        <a:effectLst/>
      </p:bgPr>
    </p:bg>
    <p:spTree>
      <p:nvGrpSpPr>
        <p:cNvPr id="1" name=""/>
        <p:cNvGrpSpPr/>
        <p:nvPr/>
      </p:nvGrpSpPr>
      <p:grpSpPr/>
      <p:sp>
        <p:nvSpPr>
          <p:cNvPr id="2" name="Rectangle 1"/>
          <p:cNvSpPr/>
          <p:nvPr/>
        </p:nvSpPr>
        <p:spPr>
          <a:xfrm>
            <a:off x="758952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68680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78408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88136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38912" y="347472"/>
            <a:ext cx="91440" cy="146304"/>
          </a:xfrm>
          <a:prstGeom prst="rect">
            <a:avLst/>
          </a:prstGeom>
          <a:solidFill>
            <a:srgbClr val="66E6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8" y="301752"/>
            <a:ext cx="10058400" cy="219456"/>
          </a:xfrm>
          <a:prstGeom prst="rect">
            <a:avLst/>
          </a:prstGeom>
          <a:noFill/>
        </p:spPr>
        <p:txBody>
          <a:bodyPr wrap="square" lIns="13716" rIns="13716" tIns="0" bIns="0">
            <a:spAutoFit/>
          </a:bodyPr>
          <a:lstStyle/>
          <a:p>
            <a:pPr>
              <a:spcAft>
                <a:spcPts val="800"/>
              </a:spcAft>
              <a:defRPr sz="1000" b="1">
                <a:solidFill>
                  <a:srgbClr val="66E6CD"/>
                </a:solidFill>
                <a:latin typeface="DejaVu Sans"/>
              </a:defRPr>
            </a:pPr>
            <a:r>
              <a:t>MERCY HOUSE  /  NEW CPU TRAINING AND HELD-OUT EVALUATION</a:t>
            </a:r>
          </a:p>
        </p:txBody>
      </p:sp>
      <p:sp>
        <p:nvSpPr>
          <p:cNvPr id="8" name="TextBox 7"/>
          <p:cNvSpPr txBox="1"/>
          <p:nvPr/>
        </p:nvSpPr>
        <p:spPr>
          <a:xfrm>
            <a:off x="548640" y="859536"/>
            <a:ext cx="11064240" cy="822960"/>
          </a:xfrm>
          <a:prstGeom prst="rect">
            <a:avLst/>
          </a:prstGeom>
          <a:noFill/>
        </p:spPr>
        <p:txBody>
          <a:bodyPr wrap="square" lIns="13716" rIns="13716" tIns="0" bIns="0">
            <a:spAutoFit/>
          </a:bodyPr>
          <a:lstStyle/>
          <a:p>
            <a:pPr>
              <a:spcAft>
                <a:spcPts val="800"/>
              </a:spcAft>
              <a:defRPr sz="3100" b="1">
                <a:solidFill>
                  <a:srgbClr val="EDF4FF"/>
                </a:solidFill>
                <a:latin typeface="DejaVu Sans"/>
              </a:defRPr>
            </a:pPr>
            <a:r>
              <a:t>Reward supported inference, not activity.</a:t>
            </a:r>
          </a:p>
        </p:txBody>
      </p:sp>
      <p:sp>
        <p:nvSpPr>
          <p:cNvPr id="9" name="Rectangle 8"/>
          <p:cNvSpPr/>
          <p:nvPr/>
        </p:nvSpPr>
        <p:spPr>
          <a:xfrm>
            <a:off x="548640" y="6428232"/>
            <a:ext cx="11064240" cy="10972"/>
          </a:xfrm>
          <a:prstGeom prst="rect">
            <a:avLst/>
          </a:prstGeom>
          <a:solidFill>
            <a:srgbClr val="2435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6537960"/>
            <a:ext cx="10332720" cy="201168"/>
          </a:xfrm>
          <a:prstGeom prst="rect">
            <a:avLst/>
          </a:prstGeom>
          <a:noFill/>
        </p:spPr>
        <p:txBody>
          <a:bodyPr wrap="square" lIns="13716" rIns="13716" tIns="0" bIns="0">
            <a:spAutoFit/>
          </a:bodyPr>
          <a:lstStyle/>
          <a:p>
            <a:pPr>
              <a:spcAft>
                <a:spcPts val="800"/>
              </a:spcAft>
              <a:defRPr sz="800" b="0">
                <a:solidFill>
                  <a:srgbClr val="A4B6CD"/>
                </a:solidFill>
                <a:latin typeface="DejaVu Sans"/>
              </a:defRPr>
            </a:pPr>
            <a:r>
              <a:t>KASUKABE DEFENCE FORCE  •  RL ENVIRONMENT HACKATHON</a:t>
            </a:r>
          </a:p>
        </p:txBody>
      </p:sp>
      <p:sp>
        <p:nvSpPr>
          <p:cNvPr id="11" name="TextBox 10"/>
          <p:cNvSpPr txBox="1"/>
          <p:nvPr/>
        </p:nvSpPr>
        <p:spPr>
          <a:xfrm>
            <a:off x="10972800" y="6510528"/>
            <a:ext cx="640080" cy="228600"/>
          </a:xfrm>
          <a:prstGeom prst="rect">
            <a:avLst/>
          </a:prstGeom>
          <a:noFill/>
        </p:spPr>
        <p:txBody>
          <a:bodyPr wrap="square" lIns="13716" rIns="13716" tIns="0" bIns="0">
            <a:spAutoFit/>
          </a:bodyPr>
          <a:lstStyle/>
          <a:p>
            <a:pPr>
              <a:spcAft>
                <a:spcPts val="800"/>
              </a:spcAft>
              <a:defRPr sz="900" b="0">
                <a:solidFill>
                  <a:srgbClr val="66E6CD"/>
                </a:solidFill>
                <a:latin typeface="DejaVu Sans"/>
              </a:defRPr>
            </a:pPr>
            <a:r>
              <a:t>10 / 14</a:t>
            </a:r>
          </a:p>
        </p:txBody>
      </p:sp>
      <p:sp>
        <p:nvSpPr>
          <p:cNvPr id="12" name="TextBox 11"/>
          <p:cNvSpPr txBox="1"/>
          <p:nvPr/>
        </p:nvSpPr>
        <p:spPr>
          <a:xfrm>
            <a:off x="640080" y="1993392"/>
            <a:ext cx="10789920" cy="566928"/>
          </a:xfrm>
          <a:prstGeom prst="rect">
            <a:avLst/>
          </a:prstGeom>
          <a:noFill/>
        </p:spPr>
        <p:txBody>
          <a:bodyPr wrap="square" lIns="13716" rIns="13716" tIns="0" bIns="0">
            <a:spAutoFit/>
          </a:bodyPr>
          <a:lstStyle/>
          <a:p>
            <a:pPr>
              <a:spcAft>
                <a:spcPts val="800"/>
              </a:spcAft>
              <a:defRPr sz="2000" b="1">
                <a:solidFill>
                  <a:srgbClr val="66E6CD"/>
                </a:solidFill>
                <a:latin typeface="DejaVu Sans"/>
              </a:defRPr>
            </a:pPr>
            <a:r>
              <a:t>6000 episodes  /  48 training checkpoints  /  48 disjoint held-out checkpoints  /  CPU only</a:t>
            </a:r>
          </a:p>
        </p:txBody>
      </p:sp>
      <p:sp>
        <p:nvSpPr>
          <p:cNvPr id="13" name="Rounded Rectangle 12"/>
          <p:cNvSpPr/>
          <p:nvPr/>
        </p:nvSpPr>
        <p:spPr>
          <a:xfrm>
            <a:off x="594360" y="2743200"/>
            <a:ext cx="4800600" cy="2441448"/>
          </a:xfrm>
          <a:prstGeom prst="roundRect">
            <a:avLst>
              <a:gd name="adj" fmla="val 8000"/>
            </a:avLst>
          </a:prstGeom>
          <a:solidFill>
            <a:srgbClr val="111D30"/>
          </a:solidFill>
          <a:ln>
            <a:solidFill>
              <a:srgbClr val="2435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58952" y="2926080"/>
            <a:ext cx="45720" cy="310896"/>
          </a:xfrm>
          <a:prstGeom prst="rect">
            <a:avLst/>
          </a:prstGeom>
          <a:solidFill>
            <a:srgbClr val="66E6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3544" y="2953512"/>
            <a:ext cx="4297680" cy="411480"/>
          </a:xfrm>
          <a:prstGeom prst="rect">
            <a:avLst/>
          </a:prstGeom>
          <a:noFill/>
        </p:spPr>
        <p:txBody>
          <a:bodyPr wrap="square" lIns="13716" rIns="13716" tIns="0" bIns="0">
            <a:spAutoFit/>
          </a:bodyPr>
          <a:lstStyle/>
          <a:p>
            <a:pPr>
              <a:spcAft>
                <a:spcPts val="800"/>
              </a:spcAft>
              <a:defRPr sz="1600" b="1">
                <a:solidFill>
                  <a:srgbClr val="66E6CD"/>
                </a:solidFill>
                <a:latin typeface="DejaVu Sans"/>
              </a:defRPr>
            </a:pPr>
            <a:r>
              <a:t>TERMINAL EXERCISE REWARD</a:t>
            </a:r>
          </a:p>
        </p:txBody>
      </p:sp>
      <p:sp>
        <p:nvSpPr>
          <p:cNvPr id="16" name="TextBox 15"/>
          <p:cNvSpPr txBox="1"/>
          <p:nvPr/>
        </p:nvSpPr>
        <p:spPr>
          <a:xfrm>
            <a:off x="804672" y="3584448"/>
            <a:ext cx="4379976" cy="1481328"/>
          </a:xfrm>
          <a:prstGeom prst="rect">
            <a:avLst/>
          </a:prstGeom>
          <a:noFill/>
        </p:spPr>
        <p:txBody>
          <a:bodyPr wrap="square" lIns="13716" rIns="13716" tIns="0" bIns="0">
            <a:spAutoFit/>
          </a:bodyPr>
          <a:lstStyle/>
          <a:p>
            <a:pPr>
              <a:spcAft>
                <a:spcPts val="800"/>
              </a:spcAft>
              <a:defRPr sz="1700" b="0">
                <a:solidFill>
                  <a:srgbClr val="EDF4FF"/>
                </a:solidFill>
                <a:latin typeface="DejaVu Sans"/>
              </a:defRPr>
            </a:pPr>
            <a:r>
              <a:t>1: the scoped material finding has acquired proof and no false or unsupported conclusions.</a:t>
            </a:r>
          </a:p>
          <a:p>
            <a:pPr>
              <a:spcAft>
                <a:spcPts val="800"/>
              </a:spcAft>
              <a:defRPr sz="1700" b="0">
                <a:solidFill>
                  <a:srgbClr val="EDF4FF"/>
                </a:solidFill>
                <a:latin typeface="DejaVu Sans"/>
              </a:defRPr>
            </a:pPr>
            <a:r>
              <a:t>0: incomplete, guessed, wrong or unsupported.</a:t>
            </a:r>
          </a:p>
        </p:txBody>
      </p:sp>
      <p:sp>
        <p:nvSpPr>
          <p:cNvPr id="17" name="TextBox 16"/>
          <p:cNvSpPr txBox="1"/>
          <p:nvPr/>
        </p:nvSpPr>
        <p:spPr>
          <a:xfrm>
            <a:off x="5806440" y="2788920"/>
            <a:ext cx="4297680" cy="274320"/>
          </a:xfrm>
          <a:prstGeom prst="rect">
            <a:avLst/>
          </a:prstGeom>
          <a:noFill/>
        </p:spPr>
        <p:txBody>
          <a:bodyPr wrap="square" lIns="13716" rIns="13716" tIns="0" bIns="0">
            <a:spAutoFit/>
          </a:bodyPr>
          <a:lstStyle/>
          <a:p>
            <a:pPr>
              <a:spcAft>
                <a:spcPts val="800"/>
              </a:spcAft>
              <a:defRPr sz="1600" b="0">
                <a:solidFill>
                  <a:srgbClr val="A4B6CD"/>
                </a:solidFill>
                <a:latin typeface="DejaVu Sans"/>
              </a:defRPr>
            </a:pPr>
            <a:r>
              <a:t>Untrained</a:t>
            </a:r>
          </a:p>
        </p:txBody>
      </p:sp>
      <p:sp>
        <p:nvSpPr>
          <p:cNvPr id="18" name="Rectangle 17"/>
          <p:cNvSpPr/>
          <p:nvPr/>
        </p:nvSpPr>
        <p:spPr>
          <a:xfrm>
            <a:off x="5806440" y="3172968"/>
            <a:ext cx="4389120" cy="164592"/>
          </a:xfrm>
          <a:prstGeom prst="rect">
            <a:avLst/>
          </a:prstGeom>
          <a:solidFill>
            <a:srgbClr val="2435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806440" y="3172968"/>
            <a:ext cx="137160" cy="164592"/>
          </a:xfrm>
          <a:prstGeom prst="rect">
            <a:avLst/>
          </a:prstGeom>
          <a:solidFill>
            <a:srgbClr val="FFC1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78440" y="2999232"/>
            <a:ext cx="1097280" cy="347472"/>
          </a:xfrm>
          <a:prstGeom prst="rect">
            <a:avLst/>
          </a:prstGeom>
          <a:noFill/>
        </p:spPr>
        <p:txBody>
          <a:bodyPr wrap="square" lIns="13716" rIns="13716" tIns="0" bIns="0">
            <a:spAutoFit/>
          </a:bodyPr>
          <a:lstStyle/>
          <a:p>
            <a:pPr>
              <a:spcAft>
                <a:spcPts val="800"/>
              </a:spcAft>
              <a:defRPr sz="1700" b="1">
                <a:solidFill>
                  <a:srgbClr val="EDF4FF"/>
                </a:solidFill>
                <a:latin typeface="DejaVu Sans"/>
              </a:defRPr>
            </a:pPr>
            <a:r>
              <a:t>3.1%</a:t>
            </a:r>
          </a:p>
        </p:txBody>
      </p:sp>
      <p:sp>
        <p:nvSpPr>
          <p:cNvPr id="21" name="TextBox 20"/>
          <p:cNvSpPr txBox="1"/>
          <p:nvPr/>
        </p:nvSpPr>
        <p:spPr>
          <a:xfrm>
            <a:off x="5806440" y="3703320"/>
            <a:ext cx="4297680" cy="274320"/>
          </a:xfrm>
          <a:prstGeom prst="rect">
            <a:avLst/>
          </a:prstGeom>
          <a:noFill/>
        </p:spPr>
        <p:txBody>
          <a:bodyPr wrap="square" lIns="13716" rIns="13716" tIns="0" bIns="0">
            <a:spAutoFit/>
          </a:bodyPr>
          <a:lstStyle/>
          <a:p>
            <a:pPr>
              <a:spcAft>
                <a:spcPts val="800"/>
              </a:spcAft>
              <a:defRPr sz="1600" b="0">
                <a:solidFill>
                  <a:srgbClr val="A4B6CD"/>
                </a:solidFill>
                <a:latin typeface="DejaVu Sans"/>
              </a:defRPr>
            </a:pPr>
            <a:r>
              <a:t>Trained sampling</a:t>
            </a:r>
          </a:p>
        </p:txBody>
      </p:sp>
      <p:sp>
        <p:nvSpPr>
          <p:cNvPr id="22" name="Rectangle 21"/>
          <p:cNvSpPr/>
          <p:nvPr/>
        </p:nvSpPr>
        <p:spPr>
          <a:xfrm>
            <a:off x="5806440" y="4087368"/>
            <a:ext cx="4389120" cy="164592"/>
          </a:xfrm>
          <a:prstGeom prst="rect">
            <a:avLst/>
          </a:prstGeom>
          <a:solidFill>
            <a:srgbClr val="2435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806440" y="4087368"/>
            <a:ext cx="4069080" cy="164592"/>
          </a:xfrm>
          <a:prstGeom prst="rect">
            <a:avLst/>
          </a:prstGeom>
          <a:solidFill>
            <a:srgbClr val="66E6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78440" y="3913632"/>
            <a:ext cx="1097280" cy="347472"/>
          </a:xfrm>
          <a:prstGeom prst="rect">
            <a:avLst/>
          </a:prstGeom>
          <a:noFill/>
        </p:spPr>
        <p:txBody>
          <a:bodyPr wrap="square" lIns="13716" rIns="13716" tIns="0" bIns="0">
            <a:spAutoFit/>
          </a:bodyPr>
          <a:lstStyle/>
          <a:p>
            <a:pPr>
              <a:spcAft>
                <a:spcPts val="800"/>
              </a:spcAft>
              <a:defRPr sz="1700" b="1">
                <a:solidFill>
                  <a:srgbClr val="EDF4FF"/>
                </a:solidFill>
                <a:latin typeface="DejaVu Sans"/>
              </a:defRPr>
            </a:pPr>
            <a:r>
              <a:t>92.7%</a:t>
            </a:r>
          </a:p>
        </p:txBody>
      </p:sp>
      <p:sp>
        <p:nvSpPr>
          <p:cNvPr id="25" name="TextBox 24"/>
          <p:cNvSpPr txBox="1"/>
          <p:nvPr/>
        </p:nvSpPr>
        <p:spPr>
          <a:xfrm>
            <a:off x="5806440" y="4617720"/>
            <a:ext cx="4297680" cy="274320"/>
          </a:xfrm>
          <a:prstGeom prst="rect">
            <a:avLst/>
          </a:prstGeom>
          <a:noFill/>
        </p:spPr>
        <p:txBody>
          <a:bodyPr wrap="square" lIns="13716" rIns="13716" tIns="0" bIns="0">
            <a:spAutoFit/>
          </a:bodyPr>
          <a:lstStyle/>
          <a:p>
            <a:pPr>
              <a:spcAft>
                <a:spcPts val="800"/>
              </a:spcAft>
              <a:defRPr sz="1600" b="0">
                <a:solidFill>
                  <a:srgbClr val="A4B6CD"/>
                </a:solidFill>
                <a:latin typeface="DejaVu Sans"/>
              </a:defRPr>
            </a:pPr>
            <a:r>
              <a:t>Trained greedy</a:t>
            </a:r>
          </a:p>
        </p:txBody>
      </p:sp>
      <p:sp>
        <p:nvSpPr>
          <p:cNvPr id="26" name="Rectangle 25"/>
          <p:cNvSpPr/>
          <p:nvPr/>
        </p:nvSpPr>
        <p:spPr>
          <a:xfrm>
            <a:off x="5806440" y="5001768"/>
            <a:ext cx="4389120" cy="164592"/>
          </a:xfrm>
          <a:prstGeom prst="rect">
            <a:avLst/>
          </a:prstGeom>
          <a:solidFill>
            <a:srgbClr val="2435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806440" y="5001768"/>
            <a:ext cx="4389120" cy="164592"/>
          </a:xfrm>
          <a:prstGeom prst="rect">
            <a:avLst/>
          </a:prstGeom>
          <a:solidFill>
            <a:srgbClr val="66E6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78440" y="4828032"/>
            <a:ext cx="1097280" cy="347472"/>
          </a:xfrm>
          <a:prstGeom prst="rect">
            <a:avLst/>
          </a:prstGeom>
          <a:noFill/>
        </p:spPr>
        <p:txBody>
          <a:bodyPr wrap="square" lIns="13716" rIns="13716" tIns="0" bIns="0">
            <a:spAutoFit/>
          </a:bodyPr>
          <a:lstStyle/>
          <a:p>
            <a:pPr>
              <a:spcAft>
                <a:spcPts val="800"/>
              </a:spcAft>
              <a:defRPr sz="1700" b="1">
                <a:solidFill>
                  <a:srgbClr val="EDF4FF"/>
                </a:solidFill>
                <a:latin typeface="DejaVu Sans"/>
              </a:defRPr>
            </a:pPr>
            <a:r>
              <a:t>100.0%</a:t>
            </a:r>
          </a:p>
        </p:txBody>
      </p:sp>
      <p:sp>
        <p:nvSpPr>
          <p:cNvPr id="29" name="TextBox 28"/>
          <p:cNvSpPr txBox="1"/>
          <p:nvPr/>
        </p:nvSpPr>
        <p:spPr>
          <a:xfrm>
            <a:off x="594360" y="5980176"/>
            <a:ext cx="10972800" cy="320040"/>
          </a:xfrm>
          <a:prstGeom prst="rect">
            <a:avLst/>
          </a:prstGeom>
          <a:noFill/>
        </p:spPr>
        <p:txBody>
          <a:bodyPr wrap="square" lIns="13716" rIns="13716" tIns="0" bIns="0">
            <a:spAutoFit/>
          </a:bodyPr>
          <a:lstStyle/>
          <a:p>
            <a:pPr>
              <a:spcAft>
                <a:spcPts val="800"/>
              </a:spcAft>
              <a:defRPr sz="1100" b="0">
                <a:solidFill>
                  <a:srgbClr val="A4B6CD"/>
                </a:solidFill>
                <a:latin typeface="DejaVu Sans"/>
              </a:defRPr>
            </a:pPr>
            <a:r>
              <a:t>96 trials per policy (48 checkpoints repeated twice). Prepared acquisitions + authored candidate rules. Same templates; not full-case success.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90F1B"/>
        </a:solidFill>
        <a:effectLst/>
      </p:bgPr>
    </p:bg>
    <p:spTree>
      <p:nvGrpSpPr>
        <p:cNvPr id="1" name=""/>
        <p:cNvGrpSpPr/>
        <p:nvPr/>
      </p:nvGrpSpPr>
      <p:grpSpPr/>
      <p:sp>
        <p:nvSpPr>
          <p:cNvPr id="2" name="Rectangle 1"/>
          <p:cNvSpPr/>
          <p:nvPr/>
        </p:nvSpPr>
        <p:spPr>
          <a:xfrm>
            <a:off x="758952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68680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78408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88136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38912" y="347472"/>
            <a:ext cx="91440" cy="146304"/>
          </a:xfrm>
          <a:prstGeom prst="rect">
            <a:avLst/>
          </a:prstGeom>
          <a:solidFill>
            <a:srgbClr val="66E6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8" y="301752"/>
            <a:ext cx="10058400" cy="219456"/>
          </a:xfrm>
          <a:prstGeom prst="rect">
            <a:avLst/>
          </a:prstGeom>
          <a:noFill/>
        </p:spPr>
        <p:txBody>
          <a:bodyPr wrap="square" lIns="13716" rIns="13716" tIns="0" bIns="0">
            <a:spAutoFit/>
          </a:bodyPr>
          <a:lstStyle/>
          <a:p>
            <a:pPr>
              <a:spcAft>
                <a:spcPts val="800"/>
              </a:spcAft>
              <a:defRPr sz="1000" b="1">
                <a:solidFill>
                  <a:srgbClr val="66E6CD"/>
                </a:solidFill>
                <a:latin typeface="DejaVu Sans"/>
              </a:defRPr>
            </a:pPr>
            <a:r>
              <a:t>MERCY HOUSE  /  FROZEN CHECKPOINT • MATCHED PROPOSAL CONTRACT</a:t>
            </a:r>
          </a:p>
        </p:txBody>
      </p:sp>
      <p:sp>
        <p:nvSpPr>
          <p:cNvPr id="8" name="TextBox 7"/>
          <p:cNvSpPr txBox="1"/>
          <p:nvPr/>
        </p:nvSpPr>
        <p:spPr>
          <a:xfrm>
            <a:off x="548640" y="859536"/>
            <a:ext cx="11064240" cy="822960"/>
          </a:xfrm>
          <a:prstGeom prst="rect">
            <a:avLst/>
          </a:prstGeom>
          <a:noFill/>
        </p:spPr>
        <p:txBody>
          <a:bodyPr wrap="square" lIns="13716" rIns="13716" tIns="0" bIns="0">
            <a:spAutoFit/>
          </a:bodyPr>
          <a:lstStyle/>
          <a:p>
            <a:pPr>
              <a:spcAft>
                <a:spcPts val="800"/>
              </a:spcAft>
              <a:defRPr sz="3100" b="1">
                <a:solidFill>
                  <a:srgbClr val="EDF4FF"/>
                </a:solidFill>
                <a:latin typeface="DejaVu Sans"/>
              </a:defRPr>
            </a:pPr>
            <a:r>
              <a:t>Test transfer on excluded elite cases.</a:t>
            </a:r>
          </a:p>
        </p:txBody>
      </p:sp>
      <p:sp>
        <p:nvSpPr>
          <p:cNvPr id="9" name="TextBox 8"/>
          <p:cNvSpPr txBox="1"/>
          <p:nvPr/>
        </p:nvSpPr>
        <p:spPr>
          <a:xfrm>
            <a:off x="566928" y="1691640"/>
            <a:ext cx="10972800" cy="594360"/>
          </a:xfrm>
          <a:prstGeom prst="rect">
            <a:avLst/>
          </a:prstGeom>
          <a:noFill/>
        </p:spPr>
        <p:txBody>
          <a:bodyPr wrap="square" lIns="13716" rIns="13716" tIns="0" bIns="0">
            <a:spAutoFit/>
          </a:bodyPr>
          <a:lstStyle/>
          <a:p>
            <a:pPr>
              <a:spcAft>
                <a:spcPts val="800"/>
              </a:spcAft>
              <a:defRPr sz="1500" b="0">
                <a:solidFill>
                  <a:srgbClr val="A4B6CD"/>
                </a:solidFill>
                <a:latin typeface="DejaVu Sans"/>
              </a:defRPr>
            </a:pPr>
            <a:r>
              <a:t>Two predeclared task scopes of the excluded Mercy House incident. LLM-ranked baseline versus frozen source-trained selector; 40 choices per arm.</a:t>
            </a:r>
          </a:p>
        </p:txBody>
      </p:sp>
      <p:sp>
        <p:nvSpPr>
          <p:cNvPr id="10" name="Rectangle 9"/>
          <p:cNvSpPr/>
          <p:nvPr/>
        </p:nvSpPr>
        <p:spPr>
          <a:xfrm>
            <a:off x="548640" y="6428232"/>
            <a:ext cx="11064240" cy="10972"/>
          </a:xfrm>
          <a:prstGeom prst="rect">
            <a:avLst/>
          </a:prstGeom>
          <a:solidFill>
            <a:srgbClr val="2435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6537960"/>
            <a:ext cx="10332720" cy="201168"/>
          </a:xfrm>
          <a:prstGeom prst="rect">
            <a:avLst/>
          </a:prstGeom>
          <a:noFill/>
        </p:spPr>
        <p:txBody>
          <a:bodyPr wrap="square" lIns="13716" rIns="13716" tIns="0" bIns="0">
            <a:spAutoFit/>
          </a:bodyPr>
          <a:lstStyle/>
          <a:p>
            <a:pPr>
              <a:spcAft>
                <a:spcPts val="800"/>
              </a:spcAft>
              <a:defRPr sz="800" b="0">
                <a:solidFill>
                  <a:srgbClr val="A4B6CD"/>
                </a:solidFill>
                <a:latin typeface="DejaVu Sans"/>
              </a:defRPr>
            </a:pPr>
            <a:r>
              <a:t>KASUKABE DEFENCE FORCE  •  RL ENVIRONMENT HACKATHON</a:t>
            </a:r>
          </a:p>
        </p:txBody>
      </p:sp>
      <p:sp>
        <p:nvSpPr>
          <p:cNvPr id="12" name="TextBox 11"/>
          <p:cNvSpPr txBox="1"/>
          <p:nvPr/>
        </p:nvSpPr>
        <p:spPr>
          <a:xfrm>
            <a:off x="10972800" y="6510528"/>
            <a:ext cx="640080" cy="228600"/>
          </a:xfrm>
          <a:prstGeom prst="rect">
            <a:avLst/>
          </a:prstGeom>
          <a:noFill/>
        </p:spPr>
        <p:txBody>
          <a:bodyPr wrap="square" lIns="13716" rIns="13716" tIns="0" bIns="0">
            <a:spAutoFit/>
          </a:bodyPr>
          <a:lstStyle/>
          <a:p>
            <a:pPr>
              <a:spcAft>
                <a:spcPts val="800"/>
              </a:spcAft>
              <a:defRPr sz="900" b="0">
                <a:solidFill>
                  <a:srgbClr val="66E6CD"/>
                </a:solidFill>
                <a:latin typeface="DejaVu Sans"/>
              </a:defRPr>
            </a:pPr>
            <a:r>
              <a:t>11 / 14</a:t>
            </a:r>
          </a:p>
        </p:txBody>
      </p:sp>
      <p:sp>
        <p:nvSpPr>
          <p:cNvPr id="13" name="Rounded Rectangle 12"/>
          <p:cNvSpPr/>
          <p:nvPr/>
        </p:nvSpPr>
        <p:spPr>
          <a:xfrm>
            <a:off x="594360" y="2560320"/>
            <a:ext cx="11000232" cy="1097280"/>
          </a:xfrm>
          <a:prstGeom prst="roundRect">
            <a:avLst>
              <a:gd name="adj" fmla="val 8000"/>
            </a:avLst>
          </a:prstGeom>
          <a:solidFill>
            <a:srgbClr val="111D30"/>
          </a:solidFill>
          <a:ln>
            <a:solidFill>
              <a:srgbClr val="2435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743200"/>
            <a:ext cx="4114800" cy="365760"/>
          </a:xfrm>
          <a:prstGeom prst="rect">
            <a:avLst/>
          </a:prstGeom>
          <a:noFill/>
        </p:spPr>
        <p:txBody>
          <a:bodyPr wrap="square" lIns="13716" rIns="13716" tIns="0" bIns="0">
            <a:spAutoFit/>
          </a:bodyPr>
          <a:lstStyle/>
          <a:p>
            <a:pPr>
              <a:spcAft>
                <a:spcPts val="800"/>
              </a:spcAft>
              <a:defRPr sz="2100" b="1">
                <a:solidFill>
                  <a:srgbClr val="EDF4FF"/>
                </a:solidFill>
                <a:latin typeface="DejaVu Sans"/>
              </a:defRPr>
            </a:pPr>
            <a:r>
              <a:t>Fatal assault</a:t>
            </a:r>
          </a:p>
        </p:txBody>
      </p:sp>
      <p:sp>
        <p:nvSpPr>
          <p:cNvPr id="15" name="TextBox 14"/>
          <p:cNvSpPr txBox="1"/>
          <p:nvPr/>
        </p:nvSpPr>
        <p:spPr>
          <a:xfrm>
            <a:off x="5394960" y="2688336"/>
            <a:ext cx="2788920" cy="246888"/>
          </a:xfrm>
          <a:prstGeom prst="rect">
            <a:avLst/>
          </a:prstGeom>
          <a:noFill/>
        </p:spPr>
        <p:txBody>
          <a:bodyPr wrap="square" lIns="13716" rIns="13716" tIns="0" bIns="0">
            <a:spAutoFit/>
          </a:bodyPr>
          <a:lstStyle/>
          <a:p>
            <a:pPr>
              <a:spcAft>
                <a:spcPts val="800"/>
              </a:spcAft>
              <a:defRPr sz="1000" b="1">
                <a:solidFill>
                  <a:srgbClr val="A4B6CD"/>
                </a:solidFill>
                <a:latin typeface="DejaVu Sans"/>
              </a:defRPr>
            </a:pPr>
            <a:r>
              <a:t>LLM-RANKED</a:t>
            </a:r>
          </a:p>
        </p:txBody>
      </p:sp>
      <p:sp>
        <p:nvSpPr>
          <p:cNvPr id="16" name="TextBox 15"/>
          <p:cNvSpPr txBox="1"/>
          <p:nvPr/>
        </p:nvSpPr>
        <p:spPr>
          <a:xfrm>
            <a:off x="5394960" y="3026663"/>
            <a:ext cx="2788920" cy="438912"/>
          </a:xfrm>
          <a:prstGeom prst="rect">
            <a:avLst/>
          </a:prstGeom>
          <a:noFill/>
        </p:spPr>
        <p:txBody>
          <a:bodyPr wrap="square" lIns="13716" rIns="13716" tIns="0" bIns="0">
            <a:spAutoFit/>
          </a:bodyPr>
          <a:lstStyle/>
          <a:p>
            <a:pPr>
              <a:spcAft>
                <a:spcPts val="800"/>
              </a:spcAft>
              <a:defRPr sz="2700" b="1">
                <a:solidFill>
                  <a:srgbClr val="FFC177"/>
                </a:solidFill>
                <a:latin typeface="DejaVu Sans"/>
              </a:defRPr>
            </a:pPr>
            <a:r>
              <a:t>0.0</a:t>
            </a:r>
          </a:p>
        </p:txBody>
      </p:sp>
      <p:sp>
        <p:nvSpPr>
          <p:cNvPr id="17" name="TextBox 16"/>
          <p:cNvSpPr txBox="1"/>
          <p:nvPr/>
        </p:nvSpPr>
        <p:spPr>
          <a:xfrm>
            <a:off x="8366760" y="2688336"/>
            <a:ext cx="2788920" cy="246888"/>
          </a:xfrm>
          <a:prstGeom prst="rect">
            <a:avLst/>
          </a:prstGeom>
          <a:noFill/>
        </p:spPr>
        <p:txBody>
          <a:bodyPr wrap="square" lIns="13716" rIns="13716" tIns="0" bIns="0">
            <a:spAutoFit/>
          </a:bodyPr>
          <a:lstStyle/>
          <a:p>
            <a:pPr>
              <a:spcAft>
                <a:spcPts val="800"/>
              </a:spcAft>
              <a:defRPr sz="1000" b="1">
                <a:solidFill>
                  <a:srgbClr val="A4B6CD"/>
                </a:solidFill>
                <a:latin typeface="DejaVu Sans"/>
              </a:defRPr>
            </a:pPr>
            <a:r>
              <a:t>SOURCE-TRAINED SELECTOR</a:t>
            </a:r>
          </a:p>
        </p:txBody>
      </p:sp>
      <p:sp>
        <p:nvSpPr>
          <p:cNvPr id="18" name="TextBox 17"/>
          <p:cNvSpPr txBox="1"/>
          <p:nvPr/>
        </p:nvSpPr>
        <p:spPr>
          <a:xfrm>
            <a:off x="8366760" y="3026663"/>
            <a:ext cx="2788920" cy="438912"/>
          </a:xfrm>
          <a:prstGeom prst="rect">
            <a:avLst/>
          </a:prstGeom>
          <a:noFill/>
        </p:spPr>
        <p:txBody>
          <a:bodyPr wrap="square" lIns="13716" rIns="13716" tIns="0" bIns="0">
            <a:spAutoFit/>
          </a:bodyPr>
          <a:lstStyle/>
          <a:p>
            <a:pPr>
              <a:spcAft>
                <a:spcPts val="800"/>
              </a:spcAft>
              <a:defRPr sz="2700" b="1">
                <a:solidFill>
                  <a:srgbClr val="FFC177"/>
                </a:solidFill>
                <a:latin typeface="DejaVu Sans"/>
              </a:defRPr>
            </a:pPr>
            <a:r>
              <a:t>0.0</a:t>
            </a:r>
          </a:p>
        </p:txBody>
      </p:sp>
      <p:sp>
        <p:nvSpPr>
          <p:cNvPr id="19" name="Rounded Rectangle 18"/>
          <p:cNvSpPr/>
          <p:nvPr/>
        </p:nvSpPr>
        <p:spPr>
          <a:xfrm>
            <a:off x="594360" y="3913631"/>
            <a:ext cx="11000232" cy="1097280"/>
          </a:xfrm>
          <a:prstGeom prst="roundRect">
            <a:avLst>
              <a:gd name="adj" fmla="val 8000"/>
            </a:avLst>
          </a:prstGeom>
          <a:solidFill>
            <a:srgbClr val="111D30"/>
          </a:solidFill>
          <a:ln>
            <a:solidFill>
              <a:srgbClr val="2435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096511"/>
            <a:ext cx="4114800" cy="365760"/>
          </a:xfrm>
          <a:prstGeom prst="rect">
            <a:avLst/>
          </a:prstGeom>
          <a:noFill/>
        </p:spPr>
        <p:txBody>
          <a:bodyPr wrap="square" lIns="13716" rIns="13716" tIns="0" bIns="0">
            <a:spAutoFit/>
          </a:bodyPr>
          <a:lstStyle/>
          <a:p>
            <a:pPr>
              <a:spcAft>
                <a:spcPts val="800"/>
              </a:spcAft>
              <a:defRPr sz="2100" b="1">
                <a:solidFill>
                  <a:srgbClr val="EDF4FF"/>
                </a:solidFill>
                <a:latin typeface="DejaVu Sans"/>
              </a:defRPr>
            </a:pPr>
            <a:r>
              <a:t>Seven-act full inquest</a:t>
            </a:r>
          </a:p>
        </p:txBody>
      </p:sp>
      <p:sp>
        <p:nvSpPr>
          <p:cNvPr id="21" name="TextBox 20"/>
          <p:cNvSpPr txBox="1"/>
          <p:nvPr/>
        </p:nvSpPr>
        <p:spPr>
          <a:xfrm>
            <a:off x="5394960" y="4041647"/>
            <a:ext cx="2788920" cy="246888"/>
          </a:xfrm>
          <a:prstGeom prst="rect">
            <a:avLst/>
          </a:prstGeom>
          <a:noFill/>
        </p:spPr>
        <p:txBody>
          <a:bodyPr wrap="square" lIns="13716" rIns="13716" tIns="0" bIns="0">
            <a:spAutoFit/>
          </a:bodyPr>
          <a:lstStyle/>
          <a:p>
            <a:pPr>
              <a:spcAft>
                <a:spcPts val="800"/>
              </a:spcAft>
              <a:defRPr sz="1000" b="1">
                <a:solidFill>
                  <a:srgbClr val="A4B6CD"/>
                </a:solidFill>
                <a:latin typeface="DejaVu Sans"/>
              </a:defRPr>
            </a:pPr>
            <a:r>
              <a:t>LLM-RANKED</a:t>
            </a:r>
          </a:p>
        </p:txBody>
      </p:sp>
      <p:sp>
        <p:nvSpPr>
          <p:cNvPr id="22" name="TextBox 21"/>
          <p:cNvSpPr txBox="1"/>
          <p:nvPr/>
        </p:nvSpPr>
        <p:spPr>
          <a:xfrm>
            <a:off x="5394960" y="4379975"/>
            <a:ext cx="2788920" cy="438912"/>
          </a:xfrm>
          <a:prstGeom prst="rect">
            <a:avLst/>
          </a:prstGeom>
          <a:noFill/>
        </p:spPr>
        <p:txBody>
          <a:bodyPr wrap="square" lIns="13716" rIns="13716" tIns="0" bIns="0">
            <a:spAutoFit/>
          </a:bodyPr>
          <a:lstStyle/>
          <a:p>
            <a:pPr>
              <a:spcAft>
                <a:spcPts val="800"/>
              </a:spcAft>
              <a:defRPr sz="2700" b="1">
                <a:solidFill>
                  <a:srgbClr val="FFC177"/>
                </a:solidFill>
                <a:latin typeface="DejaVu Sans"/>
              </a:defRPr>
            </a:pPr>
            <a:r>
              <a:t>0.0</a:t>
            </a:r>
          </a:p>
        </p:txBody>
      </p:sp>
      <p:sp>
        <p:nvSpPr>
          <p:cNvPr id="23" name="TextBox 22"/>
          <p:cNvSpPr txBox="1"/>
          <p:nvPr/>
        </p:nvSpPr>
        <p:spPr>
          <a:xfrm>
            <a:off x="8366760" y="4041647"/>
            <a:ext cx="2788920" cy="246888"/>
          </a:xfrm>
          <a:prstGeom prst="rect">
            <a:avLst/>
          </a:prstGeom>
          <a:noFill/>
        </p:spPr>
        <p:txBody>
          <a:bodyPr wrap="square" lIns="13716" rIns="13716" tIns="0" bIns="0">
            <a:spAutoFit/>
          </a:bodyPr>
          <a:lstStyle/>
          <a:p>
            <a:pPr>
              <a:spcAft>
                <a:spcPts val="800"/>
              </a:spcAft>
              <a:defRPr sz="1000" b="1">
                <a:solidFill>
                  <a:srgbClr val="A4B6CD"/>
                </a:solidFill>
                <a:latin typeface="DejaVu Sans"/>
              </a:defRPr>
            </a:pPr>
            <a:r>
              <a:t>SOURCE-TRAINED SELECTOR</a:t>
            </a:r>
          </a:p>
        </p:txBody>
      </p:sp>
      <p:sp>
        <p:nvSpPr>
          <p:cNvPr id="24" name="TextBox 23"/>
          <p:cNvSpPr txBox="1"/>
          <p:nvPr/>
        </p:nvSpPr>
        <p:spPr>
          <a:xfrm>
            <a:off x="8366760" y="4379975"/>
            <a:ext cx="2788920" cy="438912"/>
          </a:xfrm>
          <a:prstGeom prst="rect">
            <a:avLst/>
          </a:prstGeom>
          <a:noFill/>
        </p:spPr>
        <p:txBody>
          <a:bodyPr wrap="square" lIns="13716" rIns="13716" tIns="0" bIns="0">
            <a:spAutoFit/>
          </a:bodyPr>
          <a:lstStyle/>
          <a:p>
            <a:pPr>
              <a:spcAft>
                <a:spcPts val="800"/>
              </a:spcAft>
              <a:defRPr sz="2700" b="1">
                <a:solidFill>
                  <a:srgbClr val="FFC177"/>
                </a:solidFill>
                <a:latin typeface="DejaVu Sans"/>
              </a:defRPr>
            </a:pPr>
            <a:r>
              <a:t>0.0</a:t>
            </a:r>
          </a:p>
        </p:txBody>
      </p:sp>
      <p:sp>
        <p:nvSpPr>
          <p:cNvPr id="25" name="TextBox 24"/>
          <p:cNvSpPr txBox="1"/>
          <p:nvPr/>
        </p:nvSpPr>
        <p:spPr>
          <a:xfrm>
            <a:off x="713232" y="5440680"/>
            <a:ext cx="10835640" cy="365760"/>
          </a:xfrm>
          <a:prstGeom prst="rect">
            <a:avLst/>
          </a:prstGeom>
          <a:noFill/>
        </p:spPr>
        <p:txBody>
          <a:bodyPr wrap="square" lIns="13716" rIns="13716" tIns="0" bIns="0">
            <a:spAutoFit/>
          </a:bodyPr>
          <a:lstStyle/>
          <a:p>
            <a:pPr>
              <a:spcAft>
                <a:spcPts val="800"/>
              </a:spcAft>
              <a:defRPr sz="1500" b="0">
                <a:solidFill>
                  <a:srgbClr val="A4B6CD"/>
                </a:solidFill>
                <a:latin typeface="DejaVu Sans"/>
              </a:defRPr>
            </a:pPr>
            <a:r>
              <a:t>The same grounded response bank controls character variation. After branches diverge, later LLM proposals may differ.</a:t>
            </a:r>
          </a:p>
        </p:txBody>
      </p:sp>
      <p:sp>
        <p:nvSpPr>
          <p:cNvPr id="26" name="TextBox 25"/>
          <p:cNvSpPr txBox="1"/>
          <p:nvPr/>
        </p:nvSpPr>
        <p:spPr>
          <a:xfrm>
            <a:off x="594360" y="5980176"/>
            <a:ext cx="10972800" cy="320040"/>
          </a:xfrm>
          <a:prstGeom prst="rect">
            <a:avLst/>
          </a:prstGeom>
          <a:noFill/>
        </p:spPr>
        <p:txBody>
          <a:bodyPr wrap="square" lIns="13716" rIns="13716" tIns="0" bIns="0">
            <a:spAutoFit/>
          </a:bodyPr>
          <a:lstStyle/>
          <a:p>
            <a:pPr>
              <a:spcAft>
                <a:spcPts val="800"/>
              </a:spcAft>
              <a:defRPr sz="1100" b="0">
                <a:solidFill>
                  <a:srgbClr val="A4B6CD"/>
                </a:solidFill>
                <a:latin typeface="DejaVu Sans"/>
              </a:defRPr>
            </a:pPr>
            <a:r>
              <a:t>Small development comparison, not statistical superiority or the standard native-tool judging harness. Full trajectories retained.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90F1B"/>
        </a:solidFill>
        <a:effectLst/>
      </p:bgPr>
    </p:bg>
    <p:spTree>
      <p:nvGrpSpPr>
        <p:cNvPr id="1" name=""/>
        <p:cNvGrpSpPr/>
        <p:nvPr/>
      </p:nvGrpSpPr>
      <p:grpSpPr/>
      <p:sp>
        <p:nvSpPr>
          <p:cNvPr id="2" name="Rectangle 1"/>
          <p:cNvSpPr/>
          <p:nvPr/>
        </p:nvSpPr>
        <p:spPr>
          <a:xfrm>
            <a:off x="758952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68680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78408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88136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38912" y="347472"/>
            <a:ext cx="91440" cy="146304"/>
          </a:xfrm>
          <a:prstGeom prst="rect">
            <a:avLst/>
          </a:prstGeom>
          <a:solidFill>
            <a:srgbClr val="66E6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8" y="301752"/>
            <a:ext cx="10058400" cy="219456"/>
          </a:xfrm>
          <a:prstGeom prst="rect">
            <a:avLst/>
          </a:prstGeom>
          <a:noFill/>
        </p:spPr>
        <p:txBody>
          <a:bodyPr wrap="square" lIns="13716" rIns="13716" tIns="0" bIns="0">
            <a:spAutoFit/>
          </a:bodyPr>
          <a:lstStyle/>
          <a:p>
            <a:pPr>
              <a:spcAft>
                <a:spcPts val="800"/>
              </a:spcAft>
              <a:defRPr sz="1000" b="1">
                <a:solidFill>
                  <a:srgbClr val="66E6CD"/>
                </a:solidFill>
                <a:latin typeface="DejaVu Sans"/>
              </a:defRPr>
            </a:pPr>
            <a:r>
              <a:t>MERCY HOUSE  /  CONSISTENCY, SOURCE-ONLY SOLVABILITY AND ROBUSTNESS</a:t>
            </a:r>
          </a:p>
        </p:txBody>
      </p:sp>
      <p:sp>
        <p:nvSpPr>
          <p:cNvPr id="8" name="TextBox 7"/>
          <p:cNvSpPr txBox="1"/>
          <p:nvPr/>
        </p:nvSpPr>
        <p:spPr>
          <a:xfrm>
            <a:off x="548640" y="859536"/>
            <a:ext cx="11064240" cy="822960"/>
          </a:xfrm>
          <a:prstGeom prst="rect">
            <a:avLst/>
          </a:prstGeom>
          <a:noFill/>
        </p:spPr>
        <p:txBody>
          <a:bodyPr wrap="square" lIns="13716" rIns="13716" tIns="0" bIns="0">
            <a:spAutoFit/>
          </a:bodyPr>
          <a:lstStyle/>
          <a:p>
            <a:pPr>
              <a:spcAft>
                <a:spcPts val="800"/>
              </a:spcAft>
              <a:defRPr sz="3100" b="1">
                <a:solidFill>
                  <a:srgbClr val="EDF4FF"/>
                </a:solidFill>
                <a:latin typeface="DejaVu Sans"/>
              </a:defRPr>
            </a:pPr>
            <a:r>
              <a:t>Audit the case, not just the score.</a:t>
            </a:r>
          </a:p>
        </p:txBody>
      </p:sp>
      <p:sp>
        <p:nvSpPr>
          <p:cNvPr id="9" name="Rectangle 8"/>
          <p:cNvSpPr/>
          <p:nvPr/>
        </p:nvSpPr>
        <p:spPr>
          <a:xfrm>
            <a:off x="548640" y="6428232"/>
            <a:ext cx="11064240" cy="10972"/>
          </a:xfrm>
          <a:prstGeom prst="rect">
            <a:avLst/>
          </a:prstGeom>
          <a:solidFill>
            <a:srgbClr val="2435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6537960"/>
            <a:ext cx="10332720" cy="201168"/>
          </a:xfrm>
          <a:prstGeom prst="rect">
            <a:avLst/>
          </a:prstGeom>
          <a:noFill/>
        </p:spPr>
        <p:txBody>
          <a:bodyPr wrap="square" lIns="13716" rIns="13716" tIns="0" bIns="0">
            <a:spAutoFit/>
          </a:bodyPr>
          <a:lstStyle/>
          <a:p>
            <a:pPr>
              <a:spcAft>
                <a:spcPts val="800"/>
              </a:spcAft>
              <a:defRPr sz="800" b="0">
                <a:solidFill>
                  <a:srgbClr val="A4B6CD"/>
                </a:solidFill>
                <a:latin typeface="DejaVu Sans"/>
              </a:defRPr>
            </a:pPr>
            <a:r>
              <a:t>KASUKABE DEFENCE FORCE  •  RL ENVIRONMENT HACKATHON</a:t>
            </a:r>
          </a:p>
        </p:txBody>
      </p:sp>
      <p:sp>
        <p:nvSpPr>
          <p:cNvPr id="11" name="TextBox 10"/>
          <p:cNvSpPr txBox="1"/>
          <p:nvPr/>
        </p:nvSpPr>
        <p:spPr>
          <a:xfrm>
            <a:off x="10972800" y="6510528"/>
            <a:ext cx="640080" cy="228600"/>
          </a:xfrm>
          <a:prstGeom prst="rect">
            <a:avLst/>
          </a:prstGeom>
          <a:noFill/>
        </p:spPr>
        <p:txBody>
          <a:bodyPr wrap="square" lIns="13716" rIns="13716" tIns="0" bIns="0">
            <a:spAutoFit/>
          </a:bodyPr>
          <a:lstStyle/>
          <a:p>
            <a:pPr>
              <a:spcAft>
                <a:spcPts val="800"/>
              </a:spcAft>
              <a:defRPr sz="900" b="0">
                <a:solidFill>
                  <a:srgbClr val="66E6CD"/>
                </a:solidFill>
                <a:latin typeface="DejaVu Sans"/>
              </a:defRPr>
            </a:pPr>
            <a:r>
              <a:t>12 / 14</a:t>
            </a:r>
          </a:p>
        </p:txBody>
      </p:sp>
      <p:sp>
        <p:nvSpPr>
          <p:cNvPr id="12" name="Rounded Rectangle 11"/>
          <p:cNvSpPr/>
          <p:nvPr/>
        </p:nvSpPr>
        <p:spPr>
          <a:xfrm>
            <a:off x="594360" y="2514600"/>
            <a:ext cx="3520440" cy="2606040"/>
          </a:xfrm>
          <a:prstGeom prst="roundRect">
            <a:avLst>
              <a:gd name="adj" fmla="val 8000"/>
            </a:avLst>
          </a:prstGeom>
          <a:solidFill>
            <a:srgbClr val="111D30"/>
          </a:solidFill>
          <a:ln>
            <a:solidFill>
              <a:srgbClr val="2435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8952" y="2697480"/>
            <a:ext cx="45720" cy="310896"/>
          </a:xfrm>
          <a:prstGeom prst="rect">
            <a:avLst/>
          </a:prstGeom>
          <a:solidFill>
            <a:srgbClr val="66E6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544" y="2724912"/>
            <a:ext cx="3017520" cy="411480"/>
          </a:xfrm>
          <a:prstGeom prst="rect">
            <a:avLst/>
          </a:prstGeom>
          <a:noFill/>
        </p:spPr>
        <p:txBody>
          <a:bodyPr wrap="square" lIns="13716" rIns="13716" tIns="0" bIns="0">
            <a:spAutoFit/>
          </a:bodyPr>
          <a:lstStyle/>
          <a:p>
            <a:pPr>
              <a:spcAft>
                <a:spcPts val="800"/>
              </a:spcAft>
              <a:defRPr sz="1600" b="1">
                <a:solidFill>
                  <a:srgbClr val="66E6CD"/>
                </a:solidFill>
                <a:latin typeface="DejaVu Sans"/>
              </a:defRPr>
            </a:pPr>
            <a:r>
              <a:t>FACT AND PROVENANCE FIXES</a:t>
            </a:r>
          </a:p>
        </p:txBody>
      </p:sp>
      <p:sp>
        <p:nvSpPr>
          <p:cNvPr id="15" name="TextBox 14"/>
          <p:cNvSpPr txBox="1"/>
          <p:nvPr/>
        </p:nvSpPr>
        <p:spPr>
          <a:xfrm>
            <a:off x="804672" y="3355848"/>
            <a:ext cx="3099816" cy="1645920"/>
          </a:xfrm>
          <a:prstGeom prst="rect">
            <a:avLst/>
          </a:prstGeom>
          <a:noFill/>
        </p:spPr>
        <p:txBody>
          <a:bodyPr wrap="square" lIns="13716" rIns="13716" tIns="0" bIns="0">
            <a:spAutoFit/>
          </a:bodyPr>
          <a:lstStyle/>
          <a:p>
            <a:pPr>
              <a:spcAft>
                <a:spcPts val="800"/>
              </a:spcAft>
              <a:defRPr sz="1700" b="0">
                <a:solidFill>
                  <a:srgbClr val="EDF4FF"/>
                </a:solidFill>
                <a:latin typeface="DejaVu Sans"/>
              </a:defRPr>
            </a:pPr>
            <a:r>
              <a:t>Distinguish payer from carrier. Authenticate the register writer independently. Correct what witnesses actually perceived.</a:t>
            </a:r>
          </a:p>
        </p:txBody>
      </p:sp>
      <p:sp>
        <p:nvSpPr>
          <p:cNvPr id="16" name="Rounded Rectangle 15"/>
          <p:cNvSpPr/>
          <p:nvPr/>
        </p:nvSpPr>
        <p:spPr>
          <a:xfrm>
            <a:off x="4352544" y="2514600"/>
            <a:ext cx="3520440" cy="2606040"/>
          </a:xfrm>
          <a:prstGeom prst="roundRect">
            <a:avLst>
              <a:gd name="adj" fmla="val 8000"/>
            </a:avLst>
          </a:prstGeom>
          <a:solidFill>
            <a:srgbClr val="111D30"/>
          </a:solidFill>
          <a:ln>
            <a:solidFill>
              <a:srgbClr val="2435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17136" y="2697480"/>
            <a:ext cx="45720" cy="310896"/>
          </a:xfrm>
          <a:prstGeom prst="rect">
            <a:avLst/>
          </a:prstGeom>
          <a:solidFill>
            <a:srgbClr val="A2A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81728" y="2724912"/>
            <a:ext cx="3017520" cy="411480"/>
          </a:xfrm>
          <a:prstGeom prst="rect">
            <a:avLst/>
          </a:prstGeom>
          <a:noFill/>
        </p:spPr>
        <p:txBody>
          <a:bodyPr wrap="square" lIns="13716" rIns="13716" tIns="0" bIns="0">
            <a:spAutoFit/>
          </a:bodyPr>
          <a:lstStyle/>
          <a:p>
            <a:pPr>
              <a:spcAft>
                <a:spcPts val="800"/>
              </a:spcAft>
              <a:defRPr sz="1600" b="1">
                <a:solidFill>
                  <a:srgbClr val="A2ADFF"/>
                </a:solidFill>
                <a:latin typeface="DejaVu Sans"/>
              </a:defRPr>
            </a:pPr>
            <a:r>
              <a:t>LEGAL PROOF ROUTES</a:t>
            </a:r>
          </a:p>
        </p:txBody>
      </p:sp>
      <p:sp>
        <p:nvSpPr>
          <p:cNvPr id="19" name="TextBox 18"/>
          <p:cNvSpPr txBox="1"/>
          <p:nvPr/>
        </p:nvSpPr>
        <p:spPr>
          <a:xfrm>
            <a:off x="4562856" y="3355848"/>
            <a:ext cx="3099816" cy="1645920"/>
          </a:xfrm>
          <a:prstGeom prst="rect">
            <a:avLst/>
          </a:prstGeom>
          <a:noFill/>
        </p:spPr>
        <p:txBody>
          <a:bodyPr wrap="square" lIns="13716" rIns="13716" tIns="0" bIns="0">
            <a:spAutoFit/>
          </a:bodyPr>
          <a:lstStyle/>
          <a:p>
            <a:pPr>
              <a:spcAft>
                <a:spcPts val="800"/>
              </a:spcAft>
              <a:defRPr sz="1700" b="0">
                <a:solidFill>
                  <a:srgbClr val="EDF4FF"/>
                </a:solidFill>
                <a:latin typeface="DejaVu Sans"/>
              </a:defRPr>
            </a:pPr>
            <a:r>
              <a:t>All eight reference/no-op pairs: 1 / 0. Public-information-only scripted probes solve all three new families with both culprit roles.</a:t>
            </a:r>
          </a:p>
        </p:txBody>
      </p:sp>
      <p:sp>
        <p:nvSpPr>
          <p:cNvPr id="20" name="Rounded Rectangle 19"/>
          <p:cNvSpPr/>
          <p:nvPr/>
        </p:nvSpPr>
        <p:spPr>
          <a:xfrm>
            <a:off x="8110727" y="2514600"/>
            <a:ext cx="3520440" cy="2606040"/>
          </a:xfrm>
          <a:prstGeom prst="roundRect">
            <a:avLst>
              <a:gd name="adj" fmla="val 8000"/>
            </a:avLst>
          </a:prstGeom>
          <a:solidFill>
            <a:srgbClr val="111D30"/>
          </a:solidFill>
          <a:ln>
            <a:solidFill>
              <a:srgbClr val="2435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75319" y="2697480"/>
            <a:ext cx="45720" cy="310896"/>
          </a:xfrm>
          <a:prstGeom prst="rect">
            <a:avLst/>
          </a:prstGeom>
          <a:solidFill>
            <a:srgbClr val="FFC1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39911" y="2724912"/>
            <a:ext cx="3017520" cy="411480"/>
          </a:xfrm>
          <a:prstGeom prst="rect">
            <a:avLst/>
          </a:prstGeom>
          <a:noFill/>
        </p:spPr>
        <p:txBody>
          <a:bodyPr wrap="square" lIns="13716" rIns="13716" tIns="0" bIns="0">
            <a:spAutoFit/>
          </a:bodyPr>
          <a:lstStyle/>
          <a:p>
            <a:pPr>
              <a:spcAft>
                <a:spcPts val="800"/>
              </a:spcAft>
              <a:defRPr sz="1600" b="1">
                <a:solidFill>
                  <a:srgbClr val="FFC177"/>
                </a:solidFill>
                <a:latin typeface="DejaVu Sans"/>
              </a:defRPr>
            </a:pPr>
            <a:r>
              <a:t>EXECUTABLE CHECKS</a:t>
            </a:r>
          </a:p>
        </p:txBody>
      </p:sp>
      <p:sp>
        <p:nvSpPr>
          <p:cNvPr id="23" name="TextBox 22"/>
          <p:cNvSpPr txBox="1"/>
          <p:nvPr/>
        </p:nvSpPr>
        <p:spPr>
          <a:xfrm>
            <a:off x="8321040" y="3355848"/>
            <a:ext cx="3099816" cy="1645920"/>
          </a:xfrm>
          <a:prstGeom prst="rect">
            <a:avLst/>
          </a:prstGeom>
          <a:noFill/>
        </p:spPr>
        <p:txBody>
          <a:bodyPr wrap="square" lIns="13716" rIns="13716" tIns="0" bIns="0">
            <a:spAutoFit/>
          </a:bodyPr>
          <a:lstStyle/>
          <a:p>
            <a:pPr>
              <a:spcAft>
                <a:spcPts val="800"/>
              </a:spcAft>
              <a:defRPr sz="1700" b="0">
                <a:solidFill>
                  <a:srgbClr val="EDF4FF"/>
                </a:solidFill>
                <a:latin typeface="DejaVu Sans"/>
              </a:defRPr>
            </a:pPr>
            <a:r>
              <a:t>118 town + 9 legacy + 9 Node tests. Browser desktop/mobile reports, isolation probes, forged-source rejection and causal counterfactuals.</a:t>
            </a:r>
          </a:p>
        </p:txBody>
      </p:sp>
      <p:sp>
        <p:nvSpPr>
          <p:cNvPr id="24" name="TextBox 23"/>
          <p:cNvSpPr txBox="1"/>
          <p:nvPr/>
        </p:nvSpPr>
        <p:spPr>
          <a:xfrm>
            <a:off x="594360" y="5980176"/>
            <a:ext cx="10972800" cy="320040"/>
          </a:xfrm>
          <a:prstGeom prst="rect">
            <a:avLst/>
          </a:prstGeom>
          <a:noFill/>
        </p:spPr>
        <p:txBody>
          <a:bodyPr wrap="square" lIns="13716" rIns="13716" tIns="0" bIns="0">
            <a:spAutoFit/>
          </a:bodyPr>
          <a:lstStyle/>
          <a:p>
            <a:pPr>
              <a:spcAft>
                <a:spcPts val="800"/>
              </a:spcAft>
              <a:defRPr sz="1100" b="0">
                <a:solidFill>
                  <a:srgbClr val="A4B6CD"/>
                </a:solidFill>
                <a:latin typeface="DejaVu Sans"/>
              </a:defRPr>
            </a:pPr>
            <a:r>
              <a:t>Scripted feasibility is not live cooperation. Canonical murder proof can depend on a reluctant witness or a supported admission.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90F1B"/>
        </a:solidFill>
        <a:effectLst/>
      </p:bgPr>
    </p:bg>
    <p:spTree>
      <p:nvGrpSpPr>
        <p:cNvPr id="1" name=""/>
        <p:cNvGrpSpPr/>
        <p:nvPr/>
      </p:nvGrpSpPr>
      <p:grpSpPr/>
      <p:sp>
        <p:nvSpPr>
          <p:cNvPr id="2" name="Rectangle 1"/>
          <p:cNvSpPr/>
          <p:nvPr/>
        </p:nvSpPr>
        <p:spPr>
          <a:xfrm>
            <a:off x="758952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68680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78408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88136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38912" y="347472"/>
            <a:ext cx="91440" cy="146304"/>
          </a:xfrm>
          <a:prstGeom prst="rect">
            <a:avLst/>
          </a:prstGeom>
          <a:solidFill>
            <a:srgbClr val="66E6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8" y="301752"/>
            <a:ext cx="10058400" cy="219456"/>
          </a:xfrm>
          <a:prstGeom prst="rect">
            <a:avLst/>
          </a:prstGeom>
          <a:noFill/>
        </p:spPr>
        <p:txBody>
          <a:bodyPr wrap="square" lIns="13716" rIns="13716" tIns="0" bIns="0">
            <a:spAutoFit/>
          </a:bodyPr>
          <a:lstStyle/>
          <a:p>
            <a:pPr>
              <a:spcAft>
                <a:spcPts val="800"/>
              </a:spcAft>
              <a:defRPr sz="1000" b="1">
                <a:solidFill>
                  <a:srgbClr val="66E6CD"/>
                </a:solidFill>
                <a:latin typeface="DejaVu Sans"/>
              </a:defRPr>
            </a:pPr>
            <a:r>
              <a:t>MERCY HOUSE  /  DEMONSTRATION AND HANDOFF</a:t>
            </a:r>
          </a:p>
        </p:txBody>
      </p:sp>
      <p:sp>
        <p:nvSpPr>
          <p:cNvPr id="8" name="TextBox 7"/>
          <p:cNvSpPr txBox="1"/>
          <p:nvPr/>
        </p:nvSpPr>
        <p:spPr>
          <a:xfrm>
            <a:off x="548640" y="859536"/>
            <a:ext cx="11064240" cy="822960"/>
          </a:xfrm>
          <a:prstGeom prst="rect">
            <a:avLst/>
          </a:prstGeom>
          <a:noFill/>
        </p:spPr>
        <p:txBody>
          <a:bodyPr wrap="square" lIns="13716" rIns="13716" tIns="0" bIns="0">
            <a:spAutoFit/>
          </a:bodyPr>
          <a:lstStyle/>
          <a:p>
            <a:pPr>
              <a:spcAft>
                <a:spcPts val="800"/>
              </a:spcAft>
              <a:defRPr sz="3100" b="1">
                <a:solidFill>
                  <a:srgbClr val="EDF4FF"/>
                </a:solidFill>
                <a:latin typeface="DejaVu Sans"/>
              </a:defRPr>
            </a:pPr>
            <a:r>
              <a:t>A reviewable environment, with measured limits.</a:t>
            </a:r>
          </a:p>
        </p:txBody>
      </p:sp>
      <p:sp>
        <p:nvSpPr>
          <p:cNvPr id="9" name="Rectangle 8"/>
          <p:cNvSpPr/>
          <p:nvPr/>
        </p:nvSpPr>
        <p:spPr>
          <a:xfrm>
            <a:off x="548640" y="6428232"/>
            <a:ext cx="11064240" cy="10972"/>
          </a:xfrm>
          <a:prstGeom prst="rect">
            <a:avLst/>
          </a:prstGeom>
          <a:solidFill>
            <a:srgbClr val="2435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6537960"/>
            <a:ext cx="10332720" cy="201168"/>
          </a:xfrm>
          <a:prstGeom prst="rect">
            <a:avLst/>
          </a:prstGeom>
          <a:noFill/>
        </p:spPr>
        <p:txBody>
          <a:bodyPr wrap="square" lIns="13716" rIns="13716" tIns="0" bIns="0">
            <a:spAutoFit/>
          </a:bodyPr>
          <a:lstStyle/>
          <a:p>
            <a:pPr>
              <a:spcAft>
                <a:spcPts val="800"/>
              </a:spcAft>
              <a:defRPr sz="800" b="0">
                <a:solidFill>
                  <a:srgbClr val="A4B6CD"/>
                </a:solidFill>
                <a:latin typeface="DejaVu Sans"/>
              </a:defRPr>
            </a:pPr>
            <a:r>
              <a:t>KASUKABE DEFENCE FORCE  •  RL ENVIRONMENT HACKATHON</a:t>
            </a:r>
          </a:p>
        </p:txBody>
      </p:sp>
      <p:sp>
        <p:nvSpPr>
          <p:cNvPr id="11" name="TextBox 10"/>
          <p:cNvSpPr txBox="1"/>
          <p:nvPr/>
        </p:nvSpPr>
        <p:spPr>
          <a:xfrm>
            <a:off x="10972800" y="6510528"/>
            <a:ext cx="640080" cy="228600"/>
          </a:xfrm>
          <a:prstGeom prst="rect">
            <a:avLst/>
          </a:prstGeom>
          <a:noFill/>
        </p:spPr>
        <p:txBody>
          <a:bodyPr wrap="square" lIns="13716" rIns="13716" tIns="0" bIns="0">
            <a:spAutoFit/>
          </a:bodyPr>
          <a:lstStyle/>
          <a:p>
            <a:pPr>
              <a:spcAft>
                <a:spcPts val="800"/>
              </a:spcAft>
              <a:defRPr sz="900" b="0">
                <a:solidFill>
                  <a:srgbClr val="66E6CD"/>
                </a:solidFill>
                <a:latin typeface="DejaVu Sans"/>
              </a:defRPr>
            </a:pPr>
            <a:r>
              <a:t>13 / 14</a:t>
            </a:r>
          </a:p>
        </p:txBody>
      </p:sp>
      <p:sp>
        <p:nvSpPr>
          <p:cNvPr id="12" name="Rounded Rectangle 11"/>
          <p:cNvSpPr/>
          <p:nvPr/>
        </p:nvSpPr>
        <p:spPr>
          <a:xfrm>
            <a:off x="594360" y="2468880"/>
            <a:ext cx="5321808" cy="2587752"/>
          </a:xfrm>
          <a:prstGeom prst="roundRect">
            <a:avLst>
              <a:gd name="adj" fmla="val 8000"/>
            </a:avLst>
          </a:prstGeom>
          <a:solidFill>
            <a:srgbClr val="111D30"/>
          </a:solidFill>
          <a:ln>
            <a:solidFill>
              <a:srgbClr val="2435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8952" y="2651760"/>
            <a:ext cx="45720" cy="310896"/>
          </a:xfrm>
          <a:prstGeom prst="rect">
            <a:avLst/>
          </a:prstGeom>
          <a:solidFill>
            <a:srgbClr val="66E6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544" y="2679192"/>
            <a:ext cx="4818888" cy="411480"/>
          </a:xfrm>
          <a:prstGeom prst="rect">
            <a:avLst/>
          </a:prstGeom>
          <a:noFill/>
        </p:spPr>
        <p:txBody>
          <a:bodyPr wrap="square" lIns="13716" rIns="13716" tIns="0" bIns="0">
            <a:spAutoFit/>
          </a:bodyPr>
          <a:lstStyle/>
          <a:p>
            <a:pPr>
              <a:spcAft>
                <a:spcPts val="800"/>
              </a:spcAft>
              <a:defRPr sz="1600" b="1">
                <a:solidFill>
                  <a:srgbClr val="66E6CD"/>
                </a:solidFill>
                <a:latin typeface="DejaVu Sans"/>
              </a:defRPr>
            </a:pPr>
            <a:r>
              <a:t>TRY THE INVESTIGATION</a:t>
            </a:r>
          </a:p>
        </p:txBody>
      </p:sp>
      <p:sp>
        <p:nvSpPr>
          <p:cNvPr id="15" name="TextBox 14"/>
          <p:cNvSpPr txBox="1"/>
          <p:nvPr/>
        </p:nvSpPr>
        <p:spPr>
          <a:xfrm>
            <a:off x="804672" y="3310128"/>
            <a:ext cx="4901184" cy="1627632"/>
          </a:xfrm>
          <a:prstGeom prst="rect">
            <a:avLst/>
          </a:prstGeom>
          <a:noFill/>
        </p:spPr>
        <p:txBody>
          <a:bodyPr wrap="square" lIns="13716" rIns="13716" tIns="0" bIns="0">
            <a:spAutoFit/>
          </a:bodyPr>
          <a:lstStyle/>
          <a:p>
            <a:pPr>
              <a:spcAft>
                <a:spcPts val="800"/>
              </a:spcAft>
              <a:defRPr sz="1800" b="0">
                <a:solidFill>
                  <a:srgbClr val="EDF4FF"/>
                </a:solidFill>
                <a:latin typeface="DejaVu Sans"/>
              </a:defRPr>
            </a:pPr>
            <a:r>
              <a:t>mercyhouse.abhi07.xyz → Sign in → New investigation → Lantern Room, seed7.</a:t>
            </a:r>
          </a:p>
          <a:p>
            <a:pPr>
              <a:spcAft>
                <a:spcPts val="800"/>
              </a:spcAft>
              <a:defRPr sz="1800" b="0">
                <a:solidFill>
                  <a:srgbClr val="EDF4FF"/>
                </a:solidFill>
                <a:latin typeface="DejaVu Sans"/>
              </a:defRPr>
            </a:pPr>
            <a:r>
              <a:t>Inspect the submitted report and acquired citations.</a:t>
            </a:r>
          </a:p>
        </p:txBody>
      </p:sp>
      <p:sp>
        <p:nvSpPr>
          <p:cNvPr id="16" name="Rounded Rectangle 15"/>
          <p:cNvSpPr/>
          <p:nvPr/>
        </p:nvSpPr>
        <p:spPr>
          <a:xfrm>
            <a:off x="6190488" y="2468880"/>
            <a:ext cx="5321808" cy="2587752"/>
          </a:xfrm>
          <a:prstGeom prst="roundRect">
            <a:avLst>
              <a:gd name="adj" fmla="val 8000"/>
            </a:avLst>
          </a:prstGeom>
          <a:solidFill>
            <a:srgbClr val="111D30"/>
          </a:solidFill>
          <a:ln>
            <a:solidFill>
              <a:srgbClr val="2435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55079" y="2651760"/>
            <a:ext cx="45720" cy="310896"/>
          </a:xfrm>
          <a:prstGeom prst="rect">
            <a:avLst/>
          </a:prstGeom>
          <a:solidFill>
            <a:srgbClr val="FFC1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19672" y="2679192"/>
            <a:ext cx="4818888" cy="411480"/>
          </a:xfrm>
          <a:prstGeom prst="rect">
            <a:avLst/>
          </a:prstGeom>
          <a:noFill/>
        </p:spPr>
        <p:txBody>
          <a:bodyPr wrap="square" lIns="13716" rIns="13716" tIns="0" bIns="0">
            <a:spAutoFit/>
          </a:bodyPr>
          <a:lstStyle/>
          <a:p>
            <a:pPr>
              <a:spcAft>
                <a:spcPts val="800"/>
              </a:spcAft>
              <a:defRPr sz="1600" b="1">
                <a:solidFill>
                  <a:srgbClr val="FFC177"/>
                </a:solidFill>
                <a:latin typeface="DejaVu Sans"/>
              </a:defRPr>
            </a:pPr>
            <a:r>
              <a:t>WHAT IS ESTABLISHED</a:t>
            </a:r>
          </a:p>
        </p:txBody>
      </p:sp>
      <p:sp>
        <p:nvSpPr>
          <p:cNvPr id="19" name="TextBox 18"/>
          <p:cNvSpPr txBox="1"/>
          <p:nvPr/>
        </p:nvSpPr>
        <p:spPr>
          <a:xfrm>
            <a:off x="6400800" y="3310128"/>
            <a:ext cx="4901184" cy="1627632"/>
          </a:xfrm>
          <a:prstGeom prst="rect">
            <a:avLst/>
          </a:prstGeom>
          <a:noFill/>
        </p:spPr>
        <p:txBody>
          <a:bodyPr wrap="square" lIns="13716" rIns="13716" tIns="0" bIns="0">
            <a:spAutoFit/>
          </a:bodyPr>
          <a:lstStyle/>
          <a:p>
            <a:pPr>
              <a:spcAft>
                <a:spcPts val="800"/>
              </a:spcAft>
              <a:defRPr sz="1700" b="0">
                <a:solidFill>
                  <a:srgbClr val="EDF4FF"/>
                </a:solidFill>
                <a:latin typeface="DejaVu Sans"/>
              </a:defRPr>
            </a:pPr>
            <a:r>
              <a:t>Four native beginner runs scored 1.0 with live character agents. Harder-case and RL results are reported separately. Continuous autonomous lives and scored ghost causes remain unfinished.</a:t>
            </a:r>
          </a:p>
        </p:txBody>
      </p:sp>
      <p:sp>
        <p:nvSpPr>
          <p:cNvPr id="20" name="TextBox 19"/>
          <p:cNvSpPr txBox="1"/>
          <p:nvPr/>
        </p:nvSpPr>
        <p:spPr>
          <a:xfrm>
            <a:off x="685800" y="5330952"/>
            <a:ext cx="10863072" cy="457200"/>
          </a:xfrm>
          <a:prstGeom prst="rect">
            <a:avLst/>
          </a:prstGeom>
          <a:noFill/>
        </p:spPr>
        <p:txBody>
          <a:bodyPr wrap="square" lIns="13716" rIns="13716" tIns="0" bIns="0">
            <a:spAutoFit/>
          </a:bodyPr>
          <a:lstStyle/>
          <a:p>
            <a:pPr>
              <a:spcAft>
                <a:spcPts val="800"/>
              </a:spcAft>
              <a:defRPr sz="1600" b="0">
                <a:solidFill>
                  <a:srgbClr val="A2ADFF"/>
                </a:solidFill>
                <a:latin typeface="DejaVu Sans Mono"/>
              </a:defRPr>
            </a:pPr>
            <a:r>
              <a:t>docker compose up --build --abort-on-container-exit --exit-code-from harness</a:t>
            </a:r>
          </a:p>
        </p:txBody>
      </p:sp>
      <p:sp>
        <p:nvSpPr>
          <p:cNvPr id="21" name="TextBox 20"/>
          <p:cNvSpPr txBox="1"/>
          <p:nvPr/>
        </p:nvSpPr>
        <p:spPr>
          <a:xfrm>
            <a:off x="594360" y="5980176"/>
            <a:ext cx="10972800" cy="320040"/>
          </a:xfrm>
          <a:prstGeom prst="rect">
            <a:avLst/>
          </a:prstGeom>
          <a:noFill/>
        </p:spPr>
        <p:txBody>
          <a:bodyPr wrap="square" lIns="13716" rIns="13716" tIns="0" bIns="0">
            <a:spAutoFit/>
          </a:bodyPr>
          <a:lstStyle/>
          <a:p>
            <a:pPr>
              <a:spcAft>
                <a:spcPts val="800"/>
              </a:spcAft>
              <a:defRPr sz="1100" b="0">
                <a:solidFill>
                  <a:srgbClr val="A4B6CD"/>
                </a:solidFill>
                <a:latin typeface="DejaVu Sans"/>
              </a:defRPr>
            </a:pPr>
            <a:r>
              <a:t>Source + baseline gates + raw runs + editable deck/PDF + security and audit evidence. Final character-model setup and submission are external.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90F1B"/>
        </a:solidFill>
        <a:effectLst/>
      </p:bgPr>
    </p:bg>
    <p:spTree>
      <p:nvGrpSpPr>
        <p:cNvPr id="1" name=""/>
        <p:cNvGrpSpPr/>
        <p:nvPr/>
      </p:nvGrpSpPr>
      <p:grpSpPr/>
      <p:sp>
        <p:nvSpPr>
          <p:cNvPr id="2" name="Rectangle 1"/>
          <p:cNvSpPr/>
          <p:nvPr/>
        </p:nvSpPr>
        <p:spPr>
          <a:xfrm>
            <a:off x="758952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68680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78408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881360" y="0"/>
            <a:ext cx="10972" cy="6858000"/>
          </a:xfrm>
          <a:prstGeom prst="rect">
            <a:avLst/>
          </a:prstGeom>
          <a:solidFill>
            <a:srgbClr val="111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38912" y="347472"/>
            <a:ext cx="91440" cy="146304"/>
          </a:xfrm>
          <a:prstGeom prst="rect">
            <a:avLst/>
          </a:prstGeom>
          <a:solidFill>
            <a:srgbClr val="66E6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8" y="301752"/>
            <a:ext cx="10058400" cy="219456"/>
          </a:xfrm>
          <a:prstGeom prst="rect">
            <a:avLst/>
          </a:prstGeom>
          <a:noFill/>
        </p:spPr>
        <p:txBody>
          <a:bodyPr wrap="square" lIns="13716" rIns="13716" tIns="0" bIns="0">
            <a:spAutoFit/>
          </a:bodyPr>
          <a:lstStyle/>
          <a:p>
            <a:pPr>
              <a:spcAft>
                <a:spcPts val="800"/>
              </a:spcAft>
              <a:defRPr sz="1000" b="1">
                <a:solidFill>
                  <a:srgbClr val="66E6CD"/>
                </a:solidFill>
                <a:latin typeface="DejaVu Sans"/>
              </a:defRPr>
            </a:pPr>
            <a:r>
              <a:t>MERCY HOUSE  /  QUESTIONS &amp; LIVE DEMONSTRATION</a:t>
            </a:r>
          </a:p>
        </p:txBody>
      </p:sp>
      <p:sp>
        <p:nvSpPr>
          <p:cNvPr id="8" name="TextBox 7"/>
          <p:cNvSpPr txBox="1"/>
          <p:nvPr/>
        </p:nvSpPr>
        <p:spPr>
          <a:xfrm>
            <a:off x="548640" y="859536"/>
            <a:ext cx="11064240" cy="822960"/>
          </a:xfrm>
          <a:prstGeom prst="rect">
            <a:avLst/>
          </a:prstGeom>
          <a:noFill/>
        </p:spPr>
        <p:txBody>
          <a:bodyPr wrap="square" lIns="13716" rIns="13716" tIns="0" bIns="0">
            <a:spAutoFit/>
          </a:bodyPr>
          <a:lstStyle/>
          <a:p>
            <a:pPr>
              <a:spcAft>
                <a:spcPts val="800"/>
              </a:spcAft>
              <a:defRPr sz="3100" b="1">
                <a:solidFill>
                  <a:srgbClr val="EDF4FF"/>
                </a:solidFill>
                <a:latin typeface="DejaVu Sans"/>
              </a:defRPr>
            </a:pPr>
            <a:r>
              <a:t>Thank you.</a:t>
            </a:r>
          </a:p>
        </p:txBody>
      </p:sp>
      <p:sp>
        <p:nvSpPr>
          <p:cNvPr id="9" name="TextBox 8"/>
          <p:cNvSpPr txBox="1"/>
          <p:nvPr/>
        </p:nvSpPr>
        <p:spPr>
          <a:xfrm>
            <a:off x="566928" y="1691640"/>
            <a:ext cx="10972800" cy="594360"/>
          </a:xfrm>
          <a:prstGeom prst="rect">
            <a:avLst/>
          </a:prstGeom>
          <a:noFill/>
        </p:spPr>
        <p:txBody>
          <a:bodyPr wrap="square" lIns="13716" rIns="13716" tIns="0" bIns="0">
            <a:spAutoFit/>
          </a:bodyPr>
          <a:lstStyle/>
          <a:p>
            <a:pPr>
              <a:spcAft>
                <a:spcPts val="800"/>
              </a:spcAft>
              <a:defRPr sz="1500" b="0">
                <a:solidFill>
                  <a:srgbClr val="A4B6CD"/>
                </a:solidFill>
                <a:latin typeface="DejaVu Sans"/>
              </a:defRPr>
            </a:pPr>
            <a:r>
              <a:t>Scan to explore the source or watch an investigation unfold.</a:t>
            </a:r>
          </a:p>
        </p:txBody>
      </p:sp>
      <p:sp>
        <p:nvSpPr>
          <p:cNvPr id="10" name="Rectangle 9"/>
          <p:cNvSpPr/>
          <p:nvPr/>
        </p:nvSpPr>
        <p:spPr>
          <a:xfrm>
            <a:off x="548640" y="6428232"/>
            <a:ext cx="11064240" cy="10972"/>
          </a:xfrm>
          <a:prstGeom prst="rect">
            <a:avLst/>
          </a:prstGeom>
          <a:solidFill>
            <a:srgbClr val="2435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6537960"/>
            <a:ext cx="10332720" cy="201168"/>
          </a:xfrm>
          <a:prstGeom prst="rect">
            <a:avLst/>
          </a:prstGeom>
          <a:noFill/>
        </p:spPr>
        <p:txBody>
          <a:bodyPr wrap="square" lIns="13716" rIns="13716" tIns="0" bIns="0">
            <a:spAutoFit/>
          </a:bodyPr>
          <a:lstStyle/>
          <a:p>
            <a:pPr>
              <a:spcAft>
                <a:spcPts val="800"/>
              </a:spcAft>
              <a:defRPr sz="800" b="0">
                <a:solidFill>
                  <a:srgbClr val="A4B6CD"/>
                </a:solidFill>
                <a:latin typeface="DejaVu Sans"/>
              </a:defRPr>
            </a:pPr>
            <a:r>
              <a:t>KASUKABE DEFENCE FORCE  •  RL ENVIRONMENT HACKATHON</a:t>
            </a:r>
          </a:p>
        </p:txBody>
      </p:sp>
      <p:sp>
        <p:nvSpPr>
          <p:cNvPr id="12" name="TextBox 11"/>
          <p:cNvSpPr txBox="1"/>
          <p:nvPr/>
        </p:nvSpPr>
        <p:spPr>
          <a:xfrm>
            <a:off x="10972800" y="6510528"/>
            <a:ext cx="640080" cy="228600"/>
          </a:xfrm>
          <a:prstGeom prst="rect">
            <a:avLst/>
          </a:prstGeom>
          <a:noFill/>
        </p:spPr>
        <p:txBody>
          <a:bodyPr wrap="square" lIns="13716" rIns="13716" tIns="0" bIns="0">
            <a:spAutoFit/>
          </a:bodyPr>
          <a:lstStyle/>
          <a:p>
            <a:pPr>
              <a:spcAft>
                <a:spcPts val="800"/>
              </a:spcAft>
              <a:defRPr sz="900" b="0">
                <a:solidFill>
                  <a:srgbClr val="66E6CD"/>
                </a:solidFill>
                <a:latin typeface="DejaVu Sans"/>
              </a:defRPr>
            </a:pPr>
            <a:r>
              <a:t>14 / 14</a:t>
            </a:r>
          </a:p>
        </p:txBody>
      </p:sp>
      <p:sp>
        <p:nvSpPr>
          <p:cNvPr id="13" name="Rounded Rectangle 12"/>
          <p:cNvSpPr/>
          <p:nvPr/>
        </p:nvSpPr>
        <p:spPr>
          <a:xfrm>
            <a:off x="640080" y="2468880"/>
            <a:ext cx="5276088" cy="3072384"/>
          </a:xfrm>
          <a:prstGeom prst="roundRect">
            <a:avLst>
              <a:gd name="adj" fmla="val 8000"/>
            </a:avLst>
          </a:prstGeom>
          <a:solidFill>
            <a:srgbClr val="111D30"/>
          </a:solidFill>
          <a:ln>
            <a:solidFill>
              <a:srgbClr val="2435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2679192"/>
            <a:ext cx="4800600" cy="320040"/>
          </a:xfrm>
          <a:prstGeom prst="rect">
            <a:avLst/>
          </a:prstGeom>
          <a:noFill/>
        </p:spPr>
        <p:txBody>
          <a:bodyPr wrap="square" lIns="13716" rIns="13716" tIns="0" bIns="0">
            <a:spAutoFit/>
          </a:bodyPr>
          <a:lstStyle/>
          <a:p>
            <a:pPr>
              <a:spcAft>
                <a:spcPts val="800"/>
              </a:spcAft>
              <a:defRPr sz="1500" b="1">
                <a:solidFill>
                  <a:srgbClr val="66E6CD"/>
                </a:solidFill>
                <a:latin typeface="DejaVu Sans"/>
              </a:defRPr>
            </a:pPr>
            <a:r>
              <a:t>SOURCE REPOSITORY</a:t>
            </a:r>
          </a:p>
        </p:txBody>
      </p:sp>
      <p:pic>
        <p:nvPicPr>
          <p:cNvPr id="15" name="Picture 14" descr="qr-repository.png"/>
          <p:cNvPicPr>
            <a:picLocks noChangeAspect="1"/>
          </p:cNvPicPr>
          <p:nvPr/>
        </p:nvPicPr>
        <p:blipFill>
          <a:blip r:embed="rId2"/>
          <a:stretch>
            <a:fillRect/>
          </a:stretch>
        </p:blipFill>
        <p:spPr>
          <a:xfrm>
            <a:off x="868680" y="3246120"/>
            <a:ext cx="1865376" cy="1865376"/>
          </a:xfrm>
          <a:prstGeom prst="rect">
            <a:avLst/>
          </a:prstGeom>
        </p:spPr>
      </p:pic>
      <p:sp>
        <p:nvSpPr>
          <p:cNvPr id="16" name="TextBox 15"/>
          <p:cNvSpPr txBox="1"/>
          <p:nvPr/>
        </p:nvSpPr>
        <p:spPr>
          <a:xfrm>
            <a:off x="2962656" y="3364992"/>
            <a:ext cx="2706624" cy="1097280"/>
          </a:xfrm>
          <a:prstGeom prst="rect">
            <a:avLst/>
          </a:prstGeom>
          <a:noFill/>
        </p:spPr>
        <p:txBody>
          <a:bodyPr wrap="square" lIns="13716" rIns="13716" tIns="0" bIns="0">
            <a:spAutoFit/>
          </a:bodyPr>
          <a:lstStyle/>
          <a:p>
            <a:pPr>
              <a:spcAft>
                <a:spcPts val="800"/>
              </a:spcAft>
              <a:defRPr sz="1400" b="1">
                <a:solidFill>
                  <a:srgbClr val="66E6CD"/>
                </a:solidFill>
                <a:latin typeface="DejaVu Sans"/>
              </a:defRPr>
            </a:pPr>
            <a:r>
              <a:rPr>
                <a:hlinkClick r:id="rId3"/>
              </a:rPr>
              <a:t>github.com/</a:t>
            </a:r>
          </a:p>
          <a:p>
            <a:pPr>
              <a:spcAft>
                <a:spcPts val="800"/>
              </a:spcAft>
              <a:defRPr sz="1400" b="1">
                <a:solidFill>
                  <a:srgbClr val="66E6CD"/>
                </a:solidFill>
                <a:latin typeface="DejaVu Sans"/>
              </a:defRPr>
            </a:pPr>
            <a:r>
              <a:rPr>
                <a:hlinkClick r:id="rId3"/>
              </a:rPr>
              <a:t>Abhishek-Punhani/</a:t>
            </a:r>
          </a:p>
          <a:p>
            <a:pPr>
              <a:spcAft>
                <a:spcPts val="800"/>
              </a:spcAft>
              <a:defRPr sz="1400" b="1">
                <a:solidFill>
                  <a:srgbClr val="66E6CD"/>
                </a:solidFill>
                <a:latin typeface="DejaVu Sans"/>
              </a:defRPr>
            </a:pPr>
            <a:r>
              <a:rPr>
                <a:hlinkClick r:id="rId3"/>
              </a:rPr>
              <a:t>mercy-house</a:t>
            </a:r>
          </a:p>
        </p:txBody>
      </p:sp>
      <p:sp>
        <p:nvSpPr>
          <p:cNvPr id="17" name="TextBox 16"/>
          <p:cNvSpPr txBox="1"/>
          <p:nvPr/>
        </p:nvSpPr>
        <p:spPr>
          <a:xfrm>
            <a:off x="2962656" y="4590288"/>
            <a:ext cx="2670048" cy="640080"/>
          </a:xfrm>
          <a:prstGeom prst="rect">
            <a:avLst/>
          </a:prstGeom>
          <a:noFill/>
        </p:spPr>
        <p:txBody>
          <a:bodyPr wrap="square" lIns="13716" rIns="13716" tIns="0" bIns="0">
            <a:spAutoFit/>
          </a:bodyPr>
          <a:lstStyle/>
          <a:p>
            <a:pPr>
              <a:spcAft>
                <a:spcPts val="800"/>
              </a:spcAft>
              <a:defRPr sz="1200" b="0">
                <a:solidFill>
                  <a:srgbClr val="A4B6CD"/>
                </a:solidFill>
                <a:latin typeface="DejaVu Sans"/>
              </a:defRPr>
            </a:pPr>
            <a:r>
              <a:t>Private repository · GitHub access required</a:t>
            </a:r>
          </a:p>
        </p:txBody>
      </p:sp>
      <p:sp>
        <p:nvSpPr>
          <p:cNvPr id="18" name="Rounded Rectangle 17"/>
          <p:cNvSpPr/>
          <p:nvPr/>
        </p:nvSpPr>
        <p:spPr>
          <a:xfrm>
            <a:off x="6272784" y="2468880"/>
            <a:ext cx="5276088" cy="3072384"/>
          </a:xfrm>
          <a:prstGeom prst="roundRect">
            <a:avLst>
              <a:gd name="adj" fmla="val 8000"/>
            </a:avLst>
          </a:prstGeom>
          <a:solidFill>
            <a:srgbClr val="111D30"/>
          </a:solidFill>
          <a:ln>
            <a:solidFill>
              <a:srgbClr val="2435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2679192"/>
            <a:ext cx="4800600" cy="320040"/>
          </a:xfrm>
          <a:prstGeom prst="rect">
            <a:avLst/>
          </a:prstGeom>
          <a:noFill/>
        </p:spPr>
        <p:txBody>
          <a:bodyPr wrap="square" lIns="13716" rIns="13716" tIns="0" bIns="0">
            <a:spAutoFit/>
          </a:bodyPr>
          <a:lstStyle/>
          <a:p>
            <a:pPr>
              <a:spcAft>
                <a:spcPts val="800"/>
              </a:spcAft>
              <a:defRPr sz="1500" b="1">
                <a:solidFill>
                  <a:srgbClr val="66E6CD"/>
                </a:solidFill>
                <a:latin typeface="DejaVu Sans"/>
              </a:defRPr>
            </a:pPr>
            <a:r>
              <a:t>LIVE DEMONSTRATION</a:t>
            </a:r>
          </a:p>
        </p:txBody>
      </p:sp>
      <p:pic>
        <p:nvPicPr>
          <p:cNvPr id="20" name="Picture 19" descr="qr-live-demo.png"/>
          <p:cNvPicPr>
            <a:picLocks noChangeAspect="1"/>
          </p:cNvPicPr>
          <p:nvPr/>
        </p:nvPicPr>
        <p:blipFill>
          <a:blip r:embed="rId4"/>
          <a:stretch>
            <a:fillRect/>
          </a:stretch>
        </p:blipFill>
        <p:spPr>
          <a:xfrm>
            <a:off x="6501384" y="3246120"/>
            <a:ext cx="1865376" cy="1865376"/>
          </a:xfrm>
          <a:prstGeom prst="rect">
            <a:avLst/>
          </a:prstGeom>
        </p:spPr>
      </p:pic>
      <p:sp>
        <p:nvSpPr>
          <p:cNvPr id="21" name="TextBox 20"/>
          <p:cNvSpPr txBox="1"/>
          <p:nvPr/>
        </p:nvSpPr>
        <p:spPr>
          <a:xfrm>
            <a:off x="8595360" y="3364992"/>
            <a:ext cx="2706624" cy="1097280"/>
          </a:xfrm>
          <a:prstGeom prst="rect">
            <a:avLst/>
          </a:prstGeom>
          <a:noFill/>
        </p:spPr>
        <p:txBody>
          <a:bodyPr wrap="square" lIns="13716" rIns="13716" tIns="0" bIns="0">
            <a:spAutoFit/>
          </a:bodyPr>
          <a:lstStyle/>
          <a:p>
            <a:pPr>
              <a:spcAft>
                <a:spcPts val="800"/>
              </a:spcAft>
              <a:defRPr sz="1400" b="1">
                <a:solidFill>
                  <a:srgbClr val="66E6CD"/>
                </a:solidFill>
                <a:latin typeface="DejaVu Sans"/>
              </a:defRPr>
            </a:pPr>
            <a:r>
              <a:rPr>
                <a:hlinkClick r:id="rId5"/>
              </a:rPr>
              <a:t>mercyhouse.abhi07.xyz</a:t>
            </a:r>
          </a:p>
        </p:txBody>
      </p:sp>
      <p:sp>
        <p:nvSpPr>
          <p:cNvPr id="22" name="TextBox 21"/>
          <p:cNvSpPr txBox="1"/>
          <p:nvPr/>
        </p:nvSpPr>
        <p:spPr>
          <a:xfrm>
            <a:off x="8595360" y="4590288"/>
            <a:ext cx="2670048" cy="640080"/>
          </a:xfrm>
          <a:prstGeom prst="rect">
            <a:avLst/>
          </a:prstGeom>
          <a:noFill/>
        </p:spPr>
        <p:txBody>
          <a:bodyPr wrap="square" lIns="13716" rIns="13716" tIns="0" bIns="0">
            <a:spAutoFit/>
          </a:bodyPr>
          <a:lstStyle/>
          <a:p>
            <a:pPr>
              <a:spcAft>
                <a:spcPts val="800"/>
              </a:spcAft>
              <a:defRPr sz="1200" b="0">
                <a:solidFill>
                  <a:srgbClr val="A4B6CD"/>
                </a:solidFill>
                <a:latin typeface="DejaVu Sans"/>
              </a:defRPr>
            </a:pPr>
            <a:r>
              <a:t>Protected demo · sign-in required</a:t>
            </a:r>
          </a:p>
        </p:txBody>
      </p:sp>
      <p:sp>
        <p:nvSpPr>
          <p:cNvPr id="23" name="TextBox 22"/>
          <p:cNvSpPr txBox="1"/>
          <p:nvPr/>
        </p:nvSpPr>
        <p:spPr>
          <a:xfrm>
            <a:off x="594360" y="5980176"/>
            <a:ext cx="10972800" cy="320040"/>
          </a:xfrm>
          <a:prstGeom prst="rect">
            <a:avLst/>
          </a:prstGeom>
          <a:noFill/>
        </p:spPr>
        <p:txBody>
          <a:bodyPr wrap="square" lIns="13716" rIns="13716" tIns="0" bIns="0">
            <a:spAutoFit/>
          </a:bodyPr>
          <a:lstStyle/>
          <a:p>
            <a:pPr>
              <a:spcAft>
                <a:spcPts val="800"/>
              </a:spcAft>
              <a:defRPr sz="1100" b="0">
                <a:solidFill>
                  <a:srgbClr val="A4B6CD"/>
                </a:solidFill>
                <a:latin typeface="DejaVu Sans"/>
              </a:defRPr>
            </a:pPr>
            <a:r>
              <a:t>Aditya Ahirwar  •  Abhishek  •  Tapis Samaiya  |  Kasukabe Defence Force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66E6CD"/>
      </a:hlink>
      <a:folHlink>
        <a:srgbClr val="A2ADF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